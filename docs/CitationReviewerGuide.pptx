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57" r:id="rId4"/>
    <p:sldId id="259" r:id="rId5"/>
    <p:sldId id="260" r:id="rId6"/>
    <p:sldId id="264" r:id="rId7"/>
    <p:sldId id="265" r:id="rId8"/>
    <p:sldId id="267" r:id="rId9"/>
    <p:sldId id="268" r:id="rId10"/>
    <p:sldId id="275" r:id="rId11"/>
    <p:sldId id="277" r:id="rId12"/>
    <p:sldId id="278" r:id="rId13"/>
    <p:sldId id="279" r:id="rId14"/>
    <p:sldId id="280" r:id="rId15"/>
    <p:sldId id="269" r:id="rId16"/>
    <p:sldId id="270" r:id="rId17"/>
    <p:sldId id="276" r:id="rId18"/>
    <p:sldId id="271" r:id="rId19"/>
    <p:sldId id="272" r:id="rId20"/>
    <p:sldId id="273" r:id="rId21"/>
    <p:sldId id="263" r:id="rId22"/>
    <p:sldId id="261" r:id="rId23"/>
    <p:sldId id="262" r:id="rId24"/>
    <p:sldId id="27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15"/>
    <p:restoredTop sz="94502"/>
  </p:normalViewPr>
  <p:slideViewPr>
    <p:cSldViewPr snapToGrid="0">
      <p:cViewPr varScale="1">
        <p:scale>
          <a:sx n="145" d="100"/>
          <a:sy n="145" d="100"/>
        </p:scale>
        <p:origin x="118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2F83D-02BD-7D96-FC07-12EAE3050C3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0A1E335-E500-0BF3-10A3-F9D2FE4FAA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FC8A2D92-4302-7A65-8673-D8A3F4AE27D5}"/>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5" name="Footer Placeholder 4">
            <a:extLst>
              <a:ext uri="{FF2B5EF4-FFF2-40B4-BE49-F238E27FC236}">
                <a16:creationId xmlns:a16="http://schemas.microsoft.com/office/drawing/2014/main" id="{1F17380C-A51D-CC5A-752C-0A3EBE15918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8DBD5DB-B2A7-DC55-6C71-BE9695324EA5}"/>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3629928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1EB45-718F-950B-7B7A-FE5B50F0112A}"/>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137FEEE-F89F-8795-8DCE-08D71DC1A93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836854F-6B15-10AE-E02A-D57E4B8154F8}"/>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5" name="Footer Placeholder 4">
            <a:extLst>
              <a:ext uri="{FF2B5EF4-FFF2-40B4-BE49-F238E27FC236}">
                <a16:creationId xmlns:a16="http://schemas.microsoft.com/office/drawing/2014/main" id="{79C7B833-FF78-A916-B8E6-00E977BF10F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C40CDDF-E9A3-6BEB-690F-CEE3CFC502E7}"/>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3052141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DAA1C-22B8-5592-10E5-2FE8171ED4B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672870C8-66FF-5D85-3461-4ED7EE26F0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81FAB26-0070-54AE-62CD-D1CD803AAE78}"/>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5" name="Footer Placeholder 4">
            <a:extLst>
              <a:ext uri="{FF2B5EF4-FFF2-40B4-BE49-F238E27FC236}">
                <a16:creationId xmlns:a16="http://schemas.microsoft.com/office/drawing/2014/main" id="{95288B8C-7760-A045-9441-80D21940DB5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83F762E-73BF-65ED-7E5F-E832C9B2B5DA}"/>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3436780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1D2E-0399-36DE-6D1E-55824ED191B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B2830CD-60A6-0093-9C50-ED365F69C4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A26F2E0-7991-77D4-51F0-3A41083B2F5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224EB475-5BC4-5A96-941A-8369B83B8D6F}"/>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6" name="Footer Placeholder 5">
            <a:extLst>
              <a:ext uri="{FF2B5EF4-FFF2-40B4-BE49-F238E27FC236}">
                <a16:creationId xmlns:a16="http://schemas.microsoft.com/office/drawing/2014/main" id="{B1027643-FDCB-36EE-D01B-884083DF054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D94A418-4737-6E81-46A1-EFF3E06941EC}"/>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2208254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1472C-4BFF-5706-1D9E-6A227D759291}"/>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18696CF8-4F59-42B4-4ADE-53106DCD41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4AA4472-499E-1555-58E0-E770F3575BF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A8D13653-6AA6-EC68-A611-FC350F993A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5CD5DDD-6EB6-A5C7-172C-46462D0A1EE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BB28C0F3-0A1D-B718-A2E4-FF0938643093}"/>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8" name="Footer Placeholder 7">
            <a:extLst>
              <a:ext uri="{FF2B5EF4-FFF2-40B4-BE49-F238E27FC236}">
                <a16:creationId xmlns:a16="http://schemas.microsoft.com/office/drawing/2014/main" id="{C94EB3AD-4561-9F16-14B6-CF05B197429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7205E80-21A9-8F48-59FF-652600CA0B68}"/>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738362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3D100-47C8-11E1-7C3A-080102752169}"/>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1AC81782-9097-CA1A-0AB0-7228E8F38244}"/>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4" name="Footer Placeholder 3">
            <a:extLst>
              <a:ext uri="{FF2B5EF4-FFF2-40B4-BE49-F238E27FC236}">
                <a16:creationId xmlns:a16="http://schemas.microsoft.com/office/drawing/2014/main" id="{C28FAAD5-5B45-8C4E-7AED-8B0127BF71A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896FDFD-8A1A-74CD-D416-BF8B953BF389}"/>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3346016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E1F86A-4867-830A-D9C6-3CF846CB4D5F}"/>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3" name="Footer Placeholder 2">
            <a:extLst>
              <a:ext uri="{FF2B5EF4-FFF2-40B4-BE49-F238E27FC236}">
                <a16:creationId xmlns:a16="http://schemas.microsoft.com/office/drawing/2014/main" id="{F262A8FA-04CA-0147-FC0F-6CE753D00C9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BDAD57E3-4CFA-04B0-36E4-F567E03CBC50}"/>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1406435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F6172-E2A3-25F9-00E3-ED542A7CC55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AE568C52-FEE3-50DC-C9C8-9E247DAC34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412E68C-FAE3-9EBB-0B6E-5C4F0C2990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7F8DB09-827B-395B-93CF-B363C9FAE928}"/>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6" name="Footer Placeholder 5">
            <a:extLst>
              <a:ext uri="{FF2B5EF4-FFF2-40B4-BE49-F238E27FC236}">
                <a16:creationId xmlns:a16="http://schemas.microsoft.com/office/drawing/2014/main" id="{95C1C08A-0985-D26C-F2A3-92DBD847BB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F859F6B-B83C-E6FA-B4DC-44640488A6A2}"/>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1269864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48F42-1CF7-BA9D-860E-C846C02CE37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308E8CD-49D4-700B-BA89-DE174D801F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3B61C99-AEE8-7FC7-0878-307602FCAB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324CD04-A45F-9047-98C0-0F1EBA99D5E9}"/>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6" name="Footer Placeholder 5">
            <a:extLst>
              <a:ext uri="{FF2B5EF4-FFF2-40B4-BE49-F238E27FC236}">
                <a16:creationId xmlns:a16="http://schemas.microsoft.com/office/drawing/2014/main" id="{EDAA6264-ECC0-F30B-7B51-27950F4F5B0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9BB4AE0-EC7F-2F8A-8406-6A717FFAFAFC}"/>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2720063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35BE2-CF71-4E8E-707B-609655B14CB0}"/>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0C0D6B9C-F6F1-D88C-441B-75731E84CA7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CA357BF-4837-CF53-B2E6-9E5C3F5D8F58}"/>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5" name="Footer Placeholder 4">
            <a:extLst>
              <a:ext uri="{FF2B5EF4-FFF2-40B4-BE49-F238E27FC236}">
                <a16:creationId xmlns:a16="http://schemas.microsoft.com/office/drawing/2014/main" id="{6373055E-97F2-683C-BA1D-965700B2D34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412CAC-D244-7BB1-5AF4-A666E31BF0E6}"/>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3653869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30C723-D824-23C4-6729-578E14F09BD1}"/>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4D52A99-B230-6ABF-D68F-B78D568C2BF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2AC8029-6836-3FFA-8962-7817A6455D13}"/>
              </a:ext>
            </a:extLst>
          </p:cNvPr>
          <p:cNvSpPr>
            <a:spLocks noGrp="1"/>
          </p:cNvSpPr>
          <p:nvPr>
            <p:ph type="dt" sz="half" idx="10"/>
          </p:nvPr>
        </p:nvSpPr>
        <p:spPr/>
        <p:txBody>
          <a:bodyPr/>
          <a:lstStyle/>
          <a:p>
            <a:fld id="{A570D5E4-9820-8A4C-880B-D00DFB29381F}" type="datetimeFigureOut">
              <a:rPr lang="en-GB" smtClean="0"/>
              <a:t>17/09/2026</a:t>
            </a:fld>
            <a:endParaRPr lang="en-GB"/>
          </a:p>
        </p:txBody>
      </p:sp>
      <p:sp>
        <p:nvSpPr>
          <p:cNvPr id="5" name="Footer Placeholder 4">
            <a:extLst>
              <a:ext uri="{FF2B5EF4-FFF2-40B4-BE49-F238E27FC236}">
                <a16:creationId xmlns:a16="http://schemas.microsoft.com/office/drawing/2014/main" id="{8FD2FDFA-32FE-5D55-5B18-3E81B1C21CA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2AFD3CC-96FB-22FA-543E-221AAC0C32E4}"/>
              </a:ext>
            </a:extLst>
          </p:cNvPr>
          <p:cNvSpPr>
            <a:spLocks noGrp="1"/>
          </p:cNvSpPr>
          <p:nvPr>
            <p:ph type="sldNum" sz="quarter" idx="12"/>
          </p:nvPr>
        </p:nvSpPr>
        <p:spPr/>
        <p:txBody>
          <a:bodyPr/>
          <a:lstStyle/>
          <a:p>
            <a:fld id="{620FEDAA-4E2B-0545-B8B6-5671E0CC6E30}" type="slidenum">
              <a:rPr lang="en-GB" smtClean="0"/>
              <a:t>‹#›</a:t>
            </a:fld>
            <a:endParaRPr lang="en-GB"/>
          </a:p>
        </p:txBody>
      </p:sp>
    </p:spTree>
    <p:extLst>
      <p:ext uri="{BB962C8B-B14F-4D97-AF65-F5344CB8AC3E}">
        <p14:creationId xmlns:p14="http://schemas.microsoft.com/office/powerpoint/2010/main" val="446852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012C3-B92C-2F30-119E-5BB599BDA2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3906E84-5B17-6D5D-28C4-34FC6EEC28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7385DB82-7006-3214-7B81-E30D20D9CD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70D5E4-9820-8A4C-880B-D00DFB29381F}" type="datetimeFigureOut">
              <a:rPr lang="en-GB" smtClean="0"/>
              <a:t>17/09/2026</a:t>
            </a:fld>
            <a:endParaRPr lang="en-GB"/>
          </a:p>
        </p:txBody>
      </p:sp>
      <p:sp>
        <p:nvSpPr>
          <p:cNvPr id="5" name="Footer Placeholder 4">
            <a:extLst>
              <a:ext uri="{FF2B5EF4-FFF2-40B4-BE49-F238E27FC236}">
                <a16:creationId xmlns:a16="http://schemas.microsoft.com/office/drawing/2014/main" id="{EAE94865-3AD4-0991-18B8-865ADED5BD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15445D7-49F1-7562-0C02-FB1C182673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0FEDAA-4E2B-0545-B8B6-5671E0CC6E30}" type="slidenum">
              <a:rPr lang="en-GB" smtClean="0"/>
              <a:t>‹#›</a:t>
            </a:fld>
            <a:endParaRPr lang="en-GB"/>
          </a:p>
        </p:txBody>
      </p:sp>
    </p:spTree>
    <p:extLst>
      <p:ext uri="{BB962C8B-B14F-4D97-AF65-F5344CB8AC3E}">
        <p14:creationId xmlns:p14="http://schemas.microsoft.com/office/powerpoint/2010/main" val="19781344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aniel.westwood@stfc.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4707-E213-C4E6-8BED-D4CE3CBD362F}"/>
              </a:ext>
            </a:extLst>
          </p:cNvPr>
          <p:cNvSpPr>
            <a:spLocks noGrp="1"/>
          </p:cNvSpPr>
          <p:nvPr>
            <p:ph type="ctrTitle"/>
          </p:nvPr>
        </p:nvSpPr>
        <p:spPr/>
        <p:txBody>
          <a:bodyPr/>
          <a:lstStyle/>
          <a:p>
            <a:r>
              <a:rPr lang="en-GB" dirty="0"/>
              <a:t>CMIP7 Citation Service</a:t>
            </a:r>
          </a:p>
        </p:txBody>
      </p:sp>
      <p:sp>
        <p:nvSpPr>
          <p:cNvPr id="3" name="Subtitle 2">
            <a:extLst>
              <a:ext uri="{FF2B5EF4-FFF2-40B4-BE49-F238E27FC236}">
                <a16:creationId xmlns:a16="http://schemas.microsoft.com/office/drawing/2014/main" id="{1C97EE38-F8B5-00BC-036B-0A5072553B7B}"/>
              </a:ext>
            </a:extLst>
          </p:cNvPr>
          <p:cNvSpPr>
            <a:spLocks noGrp="1"/>
          </p:cNvSpPr>
          <p:nvPr>
            <p:ph type="subTitle" idx="1"/>
          </p:nvPr>
        </p:nvSpPr>
        <p:spPr/>
        <p:txBody>
          <a:bodyPr/>
          <a:lstStyle/>
          <a:p>
            <a:r>
              <a:rPr lang="en-GB" dirty="0"/>
              <a:t>Usage Guide for Reviewers</a:t>
            </a:r>
          </a:p>
        </p:txBody>
      </p:sp>
      <p:sp>
        <p:nvSpPr>
          <p:cNvPr id="4" name="TextBox 3">
            <a:extLst>
              <a:ext uri="{FF2B5EF4-FFF2-40B4-BE49-F238E27FC236}">
                <a16:creationId xmlns:a16="http://schemas.microsoft.com/office/drawing/2014/main" id="{3B29D905-8505-0E3A-BA52-87C4ECB24C59}"/>
              </a:ext>
            </a:extLst>
          </p:cNvPr>
          <p:cNvSpPr txBox="1"/>
          <p:nvPr/>
        </p:nvSpPr>
        <p:spPr>
          <a:xfrm>
            <a:off x="251460" y="6240780"/>
            <a:ext cx="12018355" cy="369332"/>
          </a:xfrm>
          <a:prstGeom prst="rect">
            <a:avLst/>
          </a:prstGeom>
          <a:noFill/>
        </p:spPr>
        <p:txBody>
          <a:bodyPr wrap="none" rtlCol="0">
            <a:spAutoFit/>
          </a:bodyPr>
          <a:lstStyle/>
          <a:p>
            <a:r>
              <a:rPr lang="en-GB" dirty="0"/>
              <a:t>Daniel Westwood (</a:t>
            </a:r>
            <a:r>
              <a:rPr lang="en-GB" dirty="0">
                <a:hlinkClick r:id="rId2"/>
              </a:rPr>
              <a:t>daniel.westwood@stfc.ac.uk</a:t>
            </a:r>
            <a:r>
              <a:rPr lang="en-GB" dirty="0"/>
              <a:t>) 				Last Updated 17th September 2026</a:t>
            </a:r>
          </a:p>
        </p:txBody>
      </p:sp>
    </p:spTree>
    <p:extLst>
      <p:ext uri="{BB962C8B-B14F-4D97-AF65-F5344CB8AC3E}">
        <p14:creationId xmlns:p14="http://schemas.microsoft.com/office/powerpoint/2010/main" val="1318468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15705-5631-E30F-0371-9285A0EBC8C0}"/>
              </a:ext>
            </a:extLst>
          </p:cNvPr>
          <p:cNvSpPr>
            <a:spLocks noGrp="1"/>
          </p:cNvSpPr>
          <p:nvPr>
            <p:ph type="title"/>
          </p:nvPr>
        </p:nvSpPr>
        <p:spPr/>
        <p:txBody>
          <a:bodyPr/>
          <a:lstStyle/>
          <a:p>
            <a:r>
              <a:rPr lang="en-GB" dirty="0"/>
              <a:t>Contents</a:t>
            </a:r>
          </a:p>
        </p:txBody>
      </p:sp>
      <p:sp>
        <p:nvSpPr>
          <p:cNvPr id="3" name="Content Placeholder 2">
            <a:extLst>
              <a:ext uri="{FF2B5EF4-FFF2-40B4-BE49-F238E27FC236}">
                <a16:creationId xmlns:a16="http://schemas.microsoft.com/office/drawing/2014/main" id="{83761B67-4DB2-DA77-9704-948671BE5180}"/>
              </a:ext>
            </a:extLst>
          </p:cNvPr>
          <p:cNvSpPr>
            <a:spLocks noGrp="1"/>
          </p:cNvSpPr>
          <p:nvPr>
            <p:ph idx="1"/>
          </p:nvPr>
        </p:nvSpPr>
        <p:spPr/>
        <p:txBody>
          <a:bodyPr/>
          <a:lstStyle/>
          <a:p>
            <a:r>
              <a:rPr lang="en-GB" dirty="0"/>
              <a:t>Requesting Reviewer Access</a:t>
            </a:r>
          </a:p>
          <a:p>
            <a:r>
              <a:rPr lang="en-GB" dirty="0"/>
              <a:t>Editing Citation Records (UI)</a:t>
            </a:r>
          </a:p>
          <a:p>
            <a:r>
              <a:rPr lang="en-GB" dirty="0"/>
              <a:t>Clashing Information (UI)</a:t>
            </a:r>
          </a:p>
          <a:p>
            <a:r>
              <a:rPr lang="en-GB" dirty="0"/>
              <a:t>Minting DOIs (UI)</a:t>
            </a:r>
          </a:p>
          <a:p>
            <a:r>
              <a:rPr lang="en-GB" dirty="0"/>
              <a:t>Editing Citation Records (API)</a:t>
            </a:r>
          </a:p>
          <a:p>
            <a:r>
              <a:rPr lang="en-GB" dirty="0"/>
              <a:t>Minting DOIs (API)</a:t>
            </a:r>
          </a:p>
        </p:txBody>
      </p:sp>
    </p:spTree>
    <p:extLst>
      <p:ext uri="{BB962C8B-B14F-4D97-AF65-F5344CB8AC3E}">
        <p14:creationId xmlns:p14="http://schemas.microsoft.com/office/powerpoint/2010/main" val="1198418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09A23-C4CE-93ED-98BE-8100F3E5EFBE}"/>
              </a:ext>
            </a:extLst>
          </p:cNvPr>
          <p:cNvSpPr>
            <a:spLocks noGrp="1"/>
          </p:cNvSpPr>
          <p:nvPr>
            <p:ph type="title"/>
          </p:nvPr>
        </p:nvSpPr>
        <p:spPr/>
        <p:txBody>
          <a:bodyPr/>
          <a:lstStyle/>
          <a:p>
            <a:r>
              <a:rPr lang="en-GB" dirty="0"/>
              <a:t>Requesting Reviewer Access</a:t>
            </a:r>
          </a:p>
        </p:txBody>
      </p:sp>
      <p:pic>
        <p:nvPicPr>
          <p:cNvPr id="4" name="Picture 3">
            <a:extLst>
              <a:ext uri="{FF2B5EF4-FFF2-40B4-BE49-F238E27FC236}">
                <a16:creationId xmlns:a16="http://schemas.microsoft.com/office/drawing/2014/main" id="{5010A794-E2D0-6C9D-CCBE-6B3BD46FE543}"/>
              </a:ext>
            </a:extLst>
          </p:cNvPr>
          <p:cNvPicPr>
            <a:picLocks noChangeAspect="1"/>
          </p:cNvPicPr>
          <p:nvPr/>
        </p:nvPicPr>
        <p:blipFill>
          <a:blip r:embed="rId2"/>
          <a:stretch>
            <a:fillRect/>
          </a:stretch>
        </p:blipFill>
        <p:spPr>
          <a:xfrm>
            <a:off x="5700731" y="1575467"/>
            <a:ext cx="5653069" cy="4687649"/>
          </a:xfrm>
          <a:prstGeom prst="rect">
            <a:avLst/>
          </a:prstGeom>
        </p:spPr>
      </p:pic>
      <p:sp>
        <p:nvSpPr>
          <p:cNvPr id="5" name="TextBox 4">
            <a:extLst>
              <a:ext uri="{FF2B5EF4-FFF2-40B4-BE49-F238E27FC236}">
                <a16:creationId xmlns:a16="http://schemas.microsoft.com/office/drawing/2014/main" id="{3D340134-6089-48AD-30B1-2E73C0EEE11B}"/>
              </a:ext>
            </a:extLst>
          </p:cNvPr>
          <p:cNvSpPr txBox="1"/>
          <p:nvPr/>
        </p:nvSpPr>
        <p:spPr>
          <a:xfrm>
            <a:off x="510988" y="2030506"/>
            <a:ext cx="5069541" cy="3693319"/>
          </a:xfrm>
          <a:prstGeom prst="rect">
            <a:avLst/>
          </a:prstGeom>
          <a:noFill/>
        </p:spPr>
        <p:txBody>
          <a:bodyPr wrap="square" rtlCol="0">
            <a:spAutoFit/>
          </a:bodyPr>
          <a:lstStyle/>
          <a:p>
            <a:r>
              <a:rPr lang="en-GB" dirty="0"/>
              <a:t>Prompt to sign in and request access through one of: </a:t>
            </a:r>
          </a:p>
          <a:p>
            <a:pPr marL="285750" indent="-285750">
              <a:buFont typeface="Arial" panose="020B0604020202020204" pitchFamily="34" charset="0"/>
              <a:buChar char="•"/>
            </a:pPr>
            <a:r>
              <a:rPr lang="en-GB" dirty="0"/>
              <a:t>Navigate to any citation record that already exists and locate the ‘Edit record’ button at the bottom of the General Information Tab</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Click ‘Add Citation’ along the top bar.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Click on the Reviewer sign in button.</a:t>
            </a:r>
          </a:p>
          <a:p>
            <a:pPr marL="285750" indent="-285750">
              <a:buFont typeface="Arial" panose="020B0604020202020204" pitchFamily="34" charset="0"/>
              <a:buChar char="•"/>
            </a:pPr>
            <a:endParaRPr lang="en-GB" dirty="0"/>
          </a:p>
          <a:p>
            <a:r>
              <a:rPr lang="en-GB" dirty="0"/>
              <a:t>You will be prompted to log in via your </a:t>
            </a:r>
            <a:r>
              <a:rPr lang="en-GB" dirty="0" err="1"/>
              <a:t>github</a:t>
            </a:r>
            <a:r>
              <a:rPr lang="en-GB" dirty="0"/>
              <a:t> account. This is purely to collect usernames and authenticate for editing purposes.</a:t>
            </a:r>
          </a:p>
        </p:txBody>
      </p:sp>
      <p:sp>
        <p:nvSpPr>
          <p:cNvPr id="7" name="Oval 6">
            <a:extLst>
              <a:ext uri="{FF2B5EF4-FFF2-40B4-BE49-F238E27FC236}">
                <a16:creationId xmlns:a16="http://schemas.microsoft.com/office/drawing/2014/main" id="{42FA6403-7EBF-E59D-EA2E-D3ACAB5400B4}"/>
              </a:ext>
            </a:extLst>
          </p:cNvPr>
          <p:cNvSpPr/>
          <p:nvPr/>
        </p:nvSpPr>
        <p:spPr>
          <a:xfrm>
            <a:off x="8865945" y="1690688"/>
            <a:ext cx="540945" cy="206692"/>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BB6129AD-1FBA-D2EE-F4D4-E7A42FF72DA3}"/>
              </a:ext>
            </a:extLst>
          </p:cNvPr>
          <p:cNvSpPr/>
          <p:nvPr/>
        </p:nvSpPr>
        <p:spPr>
          <a:xfrm>
            <a:off x="5879688" y="5871938"/>
            <a:ext cx="555401" cy="3911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81453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9A2F9-FBBD-398D-DEB8-8907EB532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29557-E423-3F46-D0E1-834A41DA4191}"/>
              </a:ext>
            </a:extLst>
          </p:cNvPr>
          <p:cNvSpPr>
            <a:spLocks noGrp="1"/>
          </p:cNvSpPr>
          <p:nvPr>
            <p:ph type="title"/>
          </p:nvPr>
        </p:nvSpPr>
        <p:spPr/>
        <p:txBody>
          <a:bodyPr/>
          <a:lstStyle/>
          <a:p>
            <a:r>
              <a:rPr lang="en-GB" dirty="0"/>
              <a:t>Requesting Reviewer Access</a:t>
            </a:r>
          </a:p>
        </p:txBody>
      </p:sp>
      <p:sp>
        <p:nvSpPr>
          <p:cNvPr id="5" name="TextBox 4">
            <a:extLst>
              <a:ext uri="{FF2B5EF4-FFF2-40B4-BE49-F238E27FC236}">
                <a16:creationId xmlns:a16="http://schemas.microsoft.com/office/drawing/2014/main" id="{F285025C-EB06-9F67-6DFB-507563494A4C}"/>
              </a:ext>
            </a:extLst>
          </p:cNvPr>
          <p:cNvSpPr txBox="1"/>
          <p:nvPr/>
        </p:nvSpPr>
        <p:spPr>
          <a:xfrm>
            <a:off x="510988" y="2030506"/>
            <a:ext cx="5069541" cy="3693319"/>
          </a:xfrm>
          <a:prstGeom prst="rect">
            <a:avLst/>
          </a:prstGeom>
          <a:noFill/>
        </p:spPr>
        <p:txBody>
          <a:bodyPr wrap="square" rtlCol="0">
            <a:spAutoFit/>
          </a:bodyPr>
          <a:lstStyle/>
          <a:p>
            <a:r>
              <a:rPr lang="en-GB" dirty="0"/>
              <a:t>Prompt to sign in and request access through one of: </a:t>
            </a:r>
          </a:p>
          <a:p>
            <a:pPr marL="285750" indent="-285750">
              <a:buFont typeface="Arial" panose="020B0604020202020204" pitchFamily="34" charset="0"/>
              <a:buChar char="•"/>
            </a:pPr>
            <a:r>
              <a:rPr lang="en-GB" dirty="0"/>
              <a:t>Navigate to any citation record that already exists and locate the ‘Edit record’ button at the bottom of the General Information Tab</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Click ‘Add Citation’ along the top bar.</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Click on the Reviewer sign in button.</a:t>
            </a:r>
          </a:p>
          <a:p>
            <a:pPr marL="285750" indent="-285750">
              <a:buFont typeface="Arial" panose="020B0604020202020204" pitchFamily="34" charset="0"/>
              <a:buChar char="•"/>
            </a:pPr>
            <a:endParaRPr lang="en-GB" dirty="0"/>
          </a:p>
          <a:p>
            <a:r>
              <a:rPr lang="en-GB" dirty="0"/>
              <a:t>You will be prompted to log in via your </a:t>
            </a:r>
            <a:r>
              <a:rPr lang="en-GB" dirty="0" err="1"/>
              <a:t>github</a:t>
            </a:r>
            <a:r>
              <a:rPr lang="en-GB" dirty="0"/>
              <a:t> account. This is purely to collect usernames and authenticate for editing purposes.</a:t>
            </a:r>
          </a:p>
        </p:txBody>
      </p:sp>
      <p:pic>
        <p:nvPicPr>
          <p:cNvPr id="3" name="Picture 2">
            <a:extLst>
              <a:ext uri="{FF2B5EF4-FFF2-40B4-BE49-F238E27FC236}">
                <a16:creationId xmlns:a16="http://schemas.microsoft.com/office/drawing/2014/main" id="{F0B4DFCE-E429-9F22-50F3-ED1B356E0DAE}"/>
              </a:ext>
            </a:extLst>
          </p:cNvPr>
          <p:cNvPicPr>
            <a:picLocks noChangeAspect="1"/>
          </p:cNvPicPr>
          <p:nvPr/>
        </p:nvPicPr>
        <p:blipFill>
          <a:blip r:embed="rId2"/>
          <a:srcRect t="14811" b="37557"/>
          <a:stretch>
            <a:fillRect/>
          </a:stretch>
        </p:blipFill>
        <p:spPr>
          <a:xfrm>
            <a:off x="6920755" y="1711278"/>
            <a:ext cx="4092386" cy="4331774"/>
          </a:xfrm>
          <a:prstGeom prst="rect">
            <a:avLst/>
          </a:prstGeom>
        </p:spPr>
      </p:pic>
    </p:spTree>
    <p:extLst>
      <p:ext uri="{BB962C8B-B14F-4D97-AF65-F5344CB8AC3E}">
        <p14:creationId xmlns:p14="http://schemas.microsoft.com/office/powerpoint/2010/main" val="3964309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7307F-0ED1-23ED-3018-89B8F5318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DAA2F-647C-96BE-6594-EF803C387777}"/>
              </a:ext>
            </a:extLst>
          </p:cNvPr>
          <p:cNvSpPr>
            <a:spLocks noGrp="1"/>
          </p:cNvSpPr>
          <p:nvPr>
            <p:ph type="title"/>
          </p:nvPr>
        </p:nvSpPr>
        <p:spPr/>
        <p:txBody>
          <a:bodyPr/>
          <a:lstStyle/>
          <a:p>
            <a:r>
              <a:rPr lang="en-GB" dirty="0"/>
              <a:t>Requesting Reviewer Access</a:t>
            </a:r>
          </a:p>
        </p:txBody>
      </p:sp>
      <p:sp>
        <p:nvSpPr>
          <p:cNvPr id="5" name="TextBox 4">
            <a:extLst>
              <a:ext uri="{FF2B5EF4-FFF2-40B4-BE49-F238E27FC236}">
                <a16:creationId xmlns:a16="http://schemas.microsoft.com/office/drawing/2014/main" id="{4127929D-3208-5B1C-D7E9-65EFD3636253}"/>
              </a:ext>
            </a:extLst>
          </p:cNvPr>
          <p:cNvSpPr txBox="1"/>
          <p:nvPr/>
        </p:nvSpPr>
        <p:spPr>
          <a:xfrm>
            <a:off x="510988" y="1442923"/>
            <a:ext cx="5069541" cy="5355312"/>
          </a:xfrm>
          <a:prstGeom prst="rect">
            <a:avLst/>
          </a:prstGeom>
          <a:noFill/>
        </p:spPr>
        <p:txBody>
          <a:bodyPr wrap="square" rtlCol="0">
            <a:spAutoFit/>
          </a:bodyPr>
          <a:lstStyle/>
          <a:p>
            <a:r>
              <a:rPr lang="en-GB" dirty="0"/>
              <a:t>You will then be prompted to request reviewer access. </a:t>
            </a:r>
          </a:p>
          <a:p>
            <a:endParaRPr lang="en-GB" dirty="0"/>
          </a:p>
          <a:p>
            <a:r>
              <a:rPr lang="en-GB" dirty="0"/>
              <a:t>If this does not happen automatically, navigate directly to cmip7-citations.ceda.ac.uk/reviewer-request/</a:t>
            </a:r>
          </a:p>
          <a:p>
            <a:endParaRPr lang="en-GB" dirty="0"/>
          </a:p>
          <a:p>
            <a:endParaRPr lang="en-GB" dirty="0"/>
          </a:p>
          <a:p>
            <a:r>
              <a:rPr lang="en-GB" dirty="0"/>
              <a:t>Tick the box(es) for the specific institutions you need access to review, and click continue to submit the request.</a:t>
            </a:r>
          </a:p>
          <a:p>
            <a:endParaRPr lang="en-GB" dirty="0"/>
          </a:p>
          <a:p>
            <a:r>
              <a:rPr lang="en-GB" dirty="0"/>
              <a:t>If an institution you require is not present in this list it may not have any existing records – you will need to press continue with access requested for any existing institutions, and then create new records that correspond to institutions not listed. These will automatically be given as permissions to your user.</a:t>
            </a:r>
          </a:p>
        </p:txBody>
      </p:sp>
      <p:pic>
        <p:nvPicPr>
          <p:cNvPr id="4" name="Picture 3">
            <a:extLst>
              <a:ext uri="{FF2B5EF4-FFF2-40B4-BE49-F238E27FC236}">
                <a16:creationId xmlns:a16="http://schemas.microsoft.com/office/drawing/2014/main" id="{7831186F-59C8-7120-86B4-5967FC46B9D3}"/>
              </a:ext>
            </a:extLst>
          </p:cNvPr>
          <p:cNvPicPr>
            <a:picLocks noChangeAspect="1"/>
          </p:cNvPicPr>
          <p:nvPr/>
        </p:nvPicPr>
        <p:blipFill>
          <a:blip r:embed="rId2"/>
          <a:stretch>
            <a:fillRect/>
          </a:stretch>
        </p:blipFill>
        <p:spPr>
          <a:xfrm>
            <a:off x="5809502" y="1677240"/>
            <a:ext cx="5544297" cy="4566997"/>
          </a:xfrm>
          <a:prstGeom prst="rect">
            <a:avLst/>
          </a:prstGeom>
        </p:spPr>
      </p:pic>
    </p:spTree>
    <p:extLst>
      <p:ext uri="{BB962C8B-B14F-4D97-AF65-F5344CB8AC3E}">
        <p14:creationId xmlns:p14="http://schemas.microsoft.com/office/powerpoint/2010/main" val="488923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A7FD-1DF9-FEA4-7D3E-3FFF45399591}"/>
              </a:ext>
            </a:extLst>
          </p:cNvPr>
          <p:cNvSpPr>
            <a:spLocks noGrp="1"/>
          </p:cNvSpPr>
          <p:nvPr>
            <p:ph type="title"/>
          </p:nvPr>
        </p:nvSpPr>
        <p:spPr/>
        <p:txBody>
          <a:bodyPr/>
          <a:lstStyle/>
          <a:p>
            <a:r>
              <a:rPr lang="en-GB" dirty="0"/>
              <a:t>Editing Citation Records (UI)</a:t>
            </a:r>
          </a:p>
        </p:txBody>
      </p:sp>
      <p:sp>
        <p:nvSpPr>
          <p:cNvPr id="3" name="Content Placeholder 2">
            <a:extLst>
              <a:ext uri="{FF2B5EF4-FFF2-40B4-BE49-F238E27FC236}">
                <a16:creationId xmlns:a16="http://schemas.microsoft.com/office/drawing/2014/main" id="{8CA03D2E-50BB-8E91-9498-914D41C61DDD}"/>
              </a:ext>
            </a:extLst>
          </p:cNvPr>
          <p:cNvSpPr>
            <a:spLocks noGrp="1"/>
          </p:cNvSpPr>
          <p:nvPr>
            <p:ph idx="1"/>
          </p:nvPr>
        </p:nvSpPr>
        <p:spPr>
          <a:xfrm>
            <a:off x="838200" y="1825625"/>
            <a:ext cx="4466665" cy="4351338"/>
          </a:xfrm>
        </p:spPr>
        <p:txBody>
          <a:bodyPr>
            <a:normAutofit lnSpcReduction="10000"/>
          </a:bodyPr>
          <a:lstStyle/>
          <a:p>
            <a:r>
              <a:rPr lang="en-GB" dirty="0"/>
              <a:t>Once reviewer access is granted, you will be able to click ‘Edit record’ on a citation record to bring up this view.</a:t>
            </a:r>
          </a:p>
          <a:p>
            <a:endParaRPr lang="en-GB" dirty="0"/>
          </a:p>
          <a:p>
            <a:r>
              <a:rPr lang="en-GB" dirty="0"/>
              <a:t>General information is auto-generated from EMD/CV info and should only be edited in limited cases.</a:t>
            </a:r>
          </a:p>
        </p:txBody>
      </p:sp>
      <p:pic>
        <p:nvPicPr>
          <p:cNvPr id="6" name="Picture 5">
            <a:extLst>
              <a:ext uri="{FF2B5EF4-FFF2-40B4-BE49-F238E27FC236}">
                <a16:creationId xmlns:a16="http://schemas.microsoft.com/office/drawing/2014/main" id="{A4059E39-A70D-BC21-3922-E02CE385040E}"/>
              </a:ext>
            </a:extLst>
          </p:cNvPr>
          <p:cNvPicPr>
            <a:picLocks noChangeAspect="1"/>
          </p:cNvPicPr>
          <p:nvPr/>
        </p:nvPicPr>
        <p:blipFill>
          <a:blip r:embed="rId2"/>
          <a:stretch>
            <a:fillRect/>
          </a:stretch>
        </p:blipFill>
        <p:spPr>
          <a:xfrm>
            <a:off x="6096000" y="1690688"/>
            <a:ext cx="5723422" cy="4601182"/>
          </a:xfrm>
          <a:prstGeom prst="rect">
            <a:avLst/>
          </a:prstGeom>
        </p:spPr>
      </p:pic>
    </p:spTree>
    <p:extLst>
      <p:ext uri="{BB962C8B-B14F-4D97-AF65-F5344CB8AC3E}">
        <p14:creationId xmlns:p14="http://schemas.microsoft.com/office/powerpoint/2010/main" val="1892525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A6CEE-1F22-CA77-05FD-0FFCD8543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FCF483-FC38-1149-A594-A0ECA45ED1E5}"/>
              </a:ext>
            </a:extLst>
          </p:cNvPr>
          <p:cNvSpPr>
            <a:spLocks noGrp="1"/>
          </p:cNvSpPr>
          <p:nvPr>
            <p:ph type="title"/>
          </p:nvPr>
        </p:nvSpPr>
        <p:spPr/>
        <p:txBody>
          <a:bodyPr/>
          <a:lstStyle/>
          <a:p>
            <a:r>
              <a:rPr lang="en-GB" dirty="0"/>
              <a:t>Editing Citation Records (UI)</a:t>
            </a:r>
          </a:p>
        </p:txBody>
      </p:sp>
      <p:sp>
        <p:nvSpPr>
          <p:cNvPr id="3" name="Content Placeholder 2">
            <a:extLst>
              <a:ext uri="{FF2B5EF4-FFF2-40B4-BE49-F238E27FC236}">
                <a16:creationId xmlns:a16="http://schemas.microsoft.com/office/drawing/2014/main" id="{A159730A-C747-3B34-FF61-19BBD07E1B59}"/>
              </a:ext>
            </a:extLst>
          </p:cNvPr>
          <p:cNvSpPr>
            <a:spLocks noGrp="1"/>
          </p:cNvSpPr>
          <p:nvPr>
            <p:ph idx="1"/>
          </p:nvPr>
        </p:nvSpPr>
        <p:spPr>
          <a:xfrm>
            <a:off x="838200" y="1825625"/>
            <a:ext cx="4466665" cy="4351338"/>
          </a:xfrm>
        </p:spPr>
        <p:txBody>
          <a:bodyPr>
            <a:normAutofit lnSpcReduction="10000"/>
          </a:bodyPr>
          <a:lstStyle/>
          <a:p>
            <a:r>
              <a:rPr lang="en-GB" dirty="0"/>
              <a:t>The DRS URL should </a:t>
            </a:r>
            <a:r>
              <a:rPr lang="en-GB" b="1" dirty="0"/>
              <a:t>NOT </a:t>
            </a:r>
            <a:r>
              <a:rPr lang="en-GB" dirty="0"/>
              <a:t>be manually added unless it does not conform to the template using </a:t>
            </a:r>
            <a:r>
              <a:rPr lang="en-GB" dirty="0" err="1"/>
              <a:t>Metagrid</a:t>
            </a:r>
            <a:r>
              <a:rPr lang="en-GB" dirty="0"/>
              <a:t> and the CMIP7/CORDEX facets.</a:t>
            </a:r>
          </a:p>
          <a:p>
            <a:endParaRPr lang="en-GB" dirty="0"/>
          </a:p>
          <a:p>
            <a:r>
              <a:rPr lang="en-GB" dirty="0"/>
              <a:t>The DOI URL should be entered if it already exists, otherwise a DOI may be minted using this service.</a:t>
            </a:r>
          </a:p>
        </p:txBody>
      </p:sp>
      <p:pic>
        <p:nvPicPr>
          <p:cNvPr id="6" name="Picture 5">
            <a:extLst>
              <a:ext uri="{FF2B5EF4-FFF2-40B4-BE49-F238E27FC236}">
                <a16:creationId xmlns:a16="http://schemas.microsoft.com/office/drawing/2014/main" id="{493C3B0E-D188-FC2A-471A-F98A097BCBDC}"/>
              </a:ext>
            </a:extLst>
          </p:cNvPr>
          <p:cNvPicPr>
            <a:picLocks noChangeAspect="1"/>
          </p:cNvPicPr>
          <p:nvPr/>
        </p:nvPicPr>
        <p:blipFill>
          <a:blip r:embed="rId2"/>
          <a:stretch>
            <a:fillRect/>
          </a:stretch>
        </p:blipFill>
        <p:spPr>
          <a:xfrm>
            <a:off x="6096000" y="1690688"/>
            <a:ext cx="5723422" cy="4601182"/>
          </a:xfrm>
          <a:prstGeom prst="rect">
            <a:avLst/>
          </a:prstGeom>
        </p:spPr>
      </p:pic>
    </p:spTree>
    <p:extLst>
      <p:ext uri="{BB962C8B-B14F-4D97-AF65-F5344CB8AC3E}">
        <p14:creationId xmlns:p14="http://schemas.microsoft.com/office/powerpoint/2010/main" val="39163036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DE2C1-3B21-BE5E-9DDB-2DFD05C5F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631AF3-143E-9461-5E9E-1F9AC633E585}"/>
              </a:ext>
            </a:extLst>
          </p:cNvPr>
          <p:cNvSpPr>
            <a:spLocks noGrp="1"/>
          </p:cNvSpPr>
          <p:nvPr>
            <p:ph type="title"/>
          </p:nvPr>
        </p:nvSpPr>
        <p:spPr/>
        <p:txBody>
          <a:bodyPr/>
          <a:lstStyle/>
          <a:p>
            <a:r>
              <a:rPr lang="en-GB" dirty="0"/>
              <a:t>Editing Citation Records (UI)</a:t>
            </a:r>
          </a:p>
        </p:txBody>
      </p:sp>
      <p:sp>
        <p:nvSpPr>
          <p:cNvPr id="3" name="Content Placeholder 2">
            <a:extLst>
              <a:ext uri="{FF2B5EF4-FFF2-40B4-BE49-F238E27FC236}">
                <a16:creationId xmlns:a16="http://schemas.microsoft.com/office/drawing/2014/main" id="{88E797FF-BE29-4446-9E4B-3869C66ED4AE}"/>
              </a:ext>
            </a:extLst>
          </p:cNvPr>
          <p:cNvSpPr>
            <a:spLocks noGrp="1"/>
          </p:cNvSpPr>
          <p:nvPr>
            <p:ph idx="1"/>
          </p:nvPr>
        </p:nvSpPr>
        <p:spPr>
          <a:xfrm>
            <a:off x="838200" y="2766919"/>
            <a:ext cx="4466665" cy="4351338"/>
          </a:xfrm>
        </p:spPr>
        <p:txBody>
          <a:bodyPr>
            <a:normAutofit/>
          </a:bodyPr>
          <a:lstStyle/>
          <a:p>
            <a:r>
              <a:rPr lang="en-GB" dirty="0"/>
              <a:t>Licensing/Rights information should only be adjusted for datasets where the auto-generated content is flawed or inaccurate.</a:t>
            </a:r>
          </a:p>
        </p:txBody>
      </p:sp>
      <p:pic>
        <p:nvPicPr>
          <p:cNvPr id="4" name="Picture 3">
            <a:extLst>
              <a:ext uri="{FF2B5EF4-FFF2-40B4-BE49-F238E27FC236}">
                <a16:creationId xmlns:a16="http://schemas.microsoft.com/office/drawing/2014/main" id="{90AB1367-9C02-930A-3462-F06B92D18452}"/>
              </a:ext>
            </a:extLst>
          </p:cNvPr>
          <p:cNvPicPr>
            <a:picLocks noChangeAspect="1"/>
          </p:cNvPicPr>
          <p:nvPr/>
        </p:nvPicPr>
        <p:blipFill>
          <a:blip r:embed="rId2"/>
          <a:stretch>
            <a:fillRect/>
          </a:stretch>
        </p:blipFill>
        <p:spPr>
          <a:xfrm>
            <a:off x="5425888" y="2036482"/>
            <a:ext cx="6477000" cy="3403600"/>
          </a:xfrm>
          <a:prstGeom prst="rect">
            <a:avLst/>
          </a:prstGeom>
        </p:spPr>
      </p:pic>
    </p:spTree>
    <p:extLst>
      <p:ext uri="{BB962C8B-B14F-4D97-AF65-F5344CB8AC3E}">
        <p14:creationId xmlns:p14="http://schemas.microsoft.com/office/powerpoint/2010/main" val="1022683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7F92C-4B91-A78B-3DE6-8C5C85EFA4D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A32E138-D9B0-D87F-61BB-72D6015E3CAC}"/>
              </a:ext>
            </a:extLst>
          </p:cNvPr>
          <p:cNvPicPr>
            <a:picLocks noChangeAspect="1"/>
          </p:cNvPicPr>
          <p:nvPr/>
        </p:nvPicPr>
        <p:blipFill>
          <a:blip r:embed="rId2"/>
          <a:stretch>
            <a:fillRect/>
          </a:stretch>
        </p:blipFill>
        <p:spPr>
          <a:xfrm>
            <a:off x="838200" y="877618"/>
            <a:ext cx="9446558" cy="3667487"/>
          </a:xfrm>
          <a:prstGeom prst="rect">
            <a:avLst/>
          </a:prstGeom>
        </p:spPr>
      </p:pic>
      <p:sp>
        <p:nvSpPr>
          <p:cNvPr id="2" name="Title 1">
            <a:extLst>
              <a:ext uri="{FF2B5EF4-FFF2-40B4-BE49-F238E27FC236}">
                <a16:creationId xmlns:a16="http://schemas.microsoft.com/office/drawing/2014/main" id="{79D5DFE9-A5A0-2BE1-AC20-2E493318245C}"/>
              </a:ext>
            </a:extLst>
          </p:cNvPr>
          <p:cNvSpPr>
            <a:spLocks noGrp="1"/>
          </p:cNvSpPr>
          <p:nvPr>
            <p:ph type="title"/>
          </p:nvPr>
        </p:nvSpPr>
        <p:spPr>
          <a:xfrm>
            <a:off x="3348318" y="311336"/>
            <a:ext cx="8234082" cy="1325563"/>
          </a:xfrm>
        </p:spPr>
        <p:txBody>
          <a:bodyPr/>
          <a:lstStyle/>
          <a:p>
            <a:r>
              <a:rPr lang="en-GB" dirty="0"/>
              <a:t>Editing Citation Records (UI)</a:t>
            </a:r>
          </a:p>
        </p:txBody>
      </p:sp>
      <p:sp>
        <p:nvSpPr>
          <p:cNvPr id="5" name="Content Placeholder 4">
            <a:extLst>
              <a:ext uri="{FF2B5EF4-FFF2-40B4-BE49-F238E27FC236}">
                <a16:creationId xmlns:a16="http://schemas.microsoft.com/office/drawing/2014/main" id="{823FFF24-F20D-FDB7-F3A7-E06BC54A16AD}"/>
              </a:ext>
            </a:extLst>
          </p:cNvPr>
          <p:cNvSpPr>
            <a:spLocks noGrp="1"/>
          </p:cNvSpPr>
          <p:nvPr>
            <p:ph idx="1"/>
          </p:nvPr>
        </p:nvSpPr>
        <p:spPr>
          <a:xfrm>
            <a:off x="838200" y="4545105"/>
            <a:ext cx="10515600" cy="1631857"/>
          </a:xfrm>
        </p:spPr>
        <p:txBody>
          <a:bodyPr>
            <a:normAutofit lnSpcReduction="10000"/>
          </a:bodyPr>
          <a:lstStyle/>
          <a:p>
            <a:r>
              <a:rPr lang="en-GB" dirty="0"/>
              <a:t>Any number of contacts may be added. If they are present in other records their information will be connected inside the service.</a:t>
            </a:r>
          </a:p>
          <a:p>
            <a:r>
              <a:rPr lang="en-GB" dirty="0"/>
              <a:t>One author must be selected as ‘Primary’, all other authors will be listed as Contacts</a:t>
            </a:r>
          </a:p>
        </p:txBody>
      </p:sp>
    </p:spTree>
    <p:extLst>
      <p:ext uri="{BB962C8B-B14F-4D97-AF65-F5344CB8AC3E}">
        <p14:creationId xmlns:p14="http://schemas.microsoft.com/office/powerpoint/2010/main" val="2940311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C780D-D719-B51F-8A59-8959F2B27CD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BC7B4B8B-95A5-87D0-E84B-910687FD28BD}"/>
              </a:ext>
            </a:extLst>
          </p:cNvPr>
          <p:cNvPicPr>
            <a:picLocks noChangeAspect="1"/>
          </p:cNvPicPr>
          <p:nvPr/>
        </p:nvPicPr>
        <p:blipFill>
          <a:blip r:embed="rId2"/>
          <a:stretch>
            <a:fillRect/>
          </a:stretch>
        </p:blipFill>
        <p:spPr>
          <a:xfrm>
            <a:off x="838200" y="877618"/>
            <a:ext cx="9446558" cy="3667487"/>
          </a:xfrm>
          <a:prstGeom prst="rect">
            <a:avLst/>
          </a:prstGeom>
        </p:spPr>
      </p:pic>
      <p:sp>
        <p:nvSpPr>
          <p:cNvPr id="2" name="Title 1">
            <a:extLst>
              <a:ext uri="{FF2B5EF4-FFF2-40B4-BE49-F238E27FC236}">
                <a16:creationId xmlns:a16="http://schemas.microsoft.com/office/drawing/2014/main" id="{716E9064-B4D0-1BE5-1C6C-2ED50D1131EE}"/>
              </a:ext>
            </a:extLst>
          </p:cNvPr>
          <p:cNvSpPr>
            <a:spLocks noGrp="1"/>
          </p:cNvSpPr>
          <p:nvPr>
            <p:ph type="title"/>
          </p:nvPr>
        </p:nvSpPr>
        <p:spPr>
          <a:xfrm>
            <a:off x="3348318" y="311336"/>
            <a:ext cx="8234082" cy="1325563"/>
          </a:xfrm>
        </p:spPr>
        <p:txBody>
          <a:bodyPr/>
          <a:lstStyle/>
          <a:p>
            <a:r>
              <a:rPr lang="en-GB" dirty="0"/>
              <a:t>Editing Citation Records (UI)</a:t>
            </a:r>
          </a:p>
        </p:txBody>
      </p:sp>
      <p:sp>
        <p:nvSpPr>
          <p:cNvPr id="5" name="Content Placeholder 4">
            <a:extLst>
              <a:ext uri="{FF2B5EF4-FFF2-40B4-BE49-F238E27FC236}">
                <a16:creationId xmlns:a16="http://schemas.microsoft.com/office/drawing/2014/main" id="{B6EED2DC-185D-D961-FC70-4B4B38183436}"/>
              </a:ext>
            </a:extLst>
          </p:cNvPr>
          <p:cNvSpPr>
            <a:spLocks noGrp="1"/>
          </p:cNvSpPr>
          <p:nvPr>
            <p:ph idx="1"/>
          </p:nvPr>
        </p:nvSpPr>
        <p:spPr>
          <a:xfrm>
            <a:off x="838200" y="4545105"/>
            <a:ext cx="10515600" cy="1631857"/>
          </a:xfrm>
        </p:spPr>
        <p:txBody>
          <a:bodyPr>
            <a:normAutofit lnSpcReduction="10000"/>
          </a:bodyPr>
          <a:lstStyle/>
          <a:p>
            <a:r>
              <a:rPr lang="en-GB" dirty="0"/>
              <a:t>Any number of contacts may be added. If they are present in other records their information will be connected inside the service.</a:t>
            </a:r>
          </a:p>
          <a:p>
            <a:r>
              <a:rPr lang="en-GB" dirty="0"/>
              <a:t>One author must be selected as ‘Primary’, all other authors will be listed as Contacts</a:t>
            </a:r>
          </a:p>
        </p:txBody>
      </p:sp>
      <p:sp>
        <p:nvSpPr>
          <p:cNvPr id="4" name="Rectangle 3">
            <a:extLst>
              <a:ext uri="{FF2B5EF4-FFF2-40B4-BE49-F238E27FC236}">
                <a16:creationId xmlns:a16="http://schemas.microsoft.com/office/drawing/2014/main" id="{8BEBBAB4-555F-6EE7-46F0-8720F3D1EE42}"/>
              </a:ext>
            </a:extLst>
          </p:cNvPr>
          <p:cNvSpPr/>
          <p:nvPr/>
        </p:nvSpPr>
        <p:spPr>
          <a:xfrm>
            <a:off x="8355330" y="2934923"/>
            <a:ext cx="2663190" cy="1182614"/>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GB" dirty="0"/>
              <a:t>Note: Contacts rows are now rearrangeable in the UI by drag-&amp;-drop! (17/08/2026)</a:t>
            </a:r>
          </a:p>
        </p:txBody>
      </p:sp>
    </p:spTree>
    <p:extLst>
      <p:ext uri="{BB962C8B-B14F-4D97-AF65-F5344CB8AC3E}">
        <p14:creationId xmlns:p14="http://schemas.microsoft.com/office/powerpoint/2010/main" val="2528125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2B7BD-4485-1527-58CD-66249D68B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3BEE7-FB0A-C695-D542-DC7FE2862941}"/>
              </a:ext>
            </a:extLst>
          </p:cNvPr>
          <p:cNvSpPr>
            <a:spLocks noGrp="1"/>
          </p:cNvSpPr>
          <p:nvPr>
            <p:ph type="title"/>
          </p:nvPr>
        </p:nvSpPr>
        <p:spPr>
          <a:xfrm>
            <a:off x="376518" y="223413"/>
            <a:ext cx="11739282" cy="1325563"/>
          </a:xfrm>
        </p:spPr>
        <p:txBody>
          <a:bodyPr/>
          <a:lstStyle/>
          <a:p>
            <a:r>
              <a:rPr lang="en-GB" dirty="0"/>
              <a:t>Editing Citation Records (UI) – Clashing Information</a:t>
            </a:r>
          </a:p>
        </p:txBody>
      </p:sp>
      <p:sp>
        <p:nvSpPr>
          <p:cNvPr id="5" name="Content Placeholder 4">
            <a:extLst>
              <a:ext uri="{FF2B5EF4-FFF2-40B4-BE49-F238E27FC236}">
                <a16:creationId xmlns:a16="http://schemas.microsoft.com/office/drawing/2014/main" id="{9DD870B8-523F-8B44-F192-C057BB2D64F1}"/>
              </a:ext>
            </a:extLst>
          </p:cNvPr>
          <p:cNvSpPr>
            <a:spLocks noGrp="1"/>
          </p:cNvSpPr>
          <p:nvPr>
            <p:ph idx="1"/>
          </p:nvPr>
        </p:nvSpPr>
        <p:spPr>
          <a:xfrm>
            <a:off x="518746" y="1344704"/>
            <a:ext cx="10747131" cy="5407787"/>
          </a:xfrm>
        </p:spPr>
        <p:txBody>
          <a:bodyPr>
            <a:normAutofit/>
          </a:bodyPr>
          <a:lstStyle/>
          <a:p>
            <a:pPr marL="0" indent="0">
              <a:buNone/>
            </a:pPr>
            <a:r>
              <a:rPr lang="en-GB" dirty="0"/>
              <a:t>If a Party already exists in the citation service with </a:t>
            </a:r>
            <a:r>
              <a:rPr lang="en-GB" b="1" dirty="0"/>
              <a:t>different </a:t>
            </a:r>
            <a:r>
              <a:rPr lang="en-GB" dirty="0"/>
              <a:t>information, this raises a clash error.</a:t>
            </a:r>
          </a:p>
          <a:p>
            <a:pPr marL="0" indent="0">
              <a:buNone/>
            </a:pPr>
            <a:endParaRPr lang="en-GB" dirty="0"/>
          </a:p>
          <a:p>
            <a:pPr marL="514350" indent="-514350">
              <a:buAutoNum type="arabicPeriod"/>
            </a:pPr>
            <a:r>
              <a:rPr lang="en-GB" dirty="0"/>
              <a:t>If the new information overrides some old information (</a:t>
            </a:r>
            <a:r>
              <a:rPr lang="en-GB" dirty="0" err="1"/>
              <a:t>i.e</a:t>
            </a:r>
            <a:r>
              <a:rPr lang="en-GB" dirty="0"/>
              <a:t> an email update/change) then you can </a:t>
            </a:r>
            <a:r>
              <a:rPr lang="en-GB" b="1" dirty="0"/>
              <a:t>ignore the warning </a:t>
            </a:r>
            <a:r>
              <a:rPr lang="en-GB" dirty="0"/>
              <a:t>and just resubmit the form and this error will be bypassed.</a:t>
            </a:r>
          </a:p>
          <a:p>
            <a:pPr marL="514350" indent="-514350">
              <a:buAutoNum type="arabicPeriod"/>
            </a:pPr>
            <a:endParaRPr lang="en-GB" dirty="0"/>
          </a:p>
          <a:p>
            <a:pPr marL="514350" indent="-514350">
              <a:buAutoNum type="arabicPeriod"/>
            </a:pPr>
            <a:r>
              <a:rPr lang="en-GB" dirty="0"/>
              <a:t>If the clash could indicate two different people with the same name (but different emails/</a:t>
            </a:r>
            <a:r>
              <a:rPr lang="en-GB" dirty="0" err="1"/>
              <a:t>orcids</a:t>
            </a:r>
            <a:r>
              <a:rPr lang="en-GB" dirty="0"/>
              <a:t>) you will need to check the </a:t>
            </a:r>
            <a:r>
              <a:rPr lang="en-GB" b="1" dirty="0"/>
              <a:t>Parties</a:t>
            </a:r>
            <a:r>
              <a:rPr lang="en-GB" dirty="0"/>
              <a:t> information that currently exists and determine the best response.</a:t>
            </a:r>
          </a:p>
        </p:txBody>
      </p:sp>
    </p:spTree>
    <p:extLst>
      <p:ext uri="{BB962C8B-B14F-4D97-AF65-F5344CB8AC3E}">
        <p14:creationId xmlns:p14="http://schemas.microsoft.com/office/powerpoint/2010/main" val="2104520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9450C-EEA8-F2CD-3991-22A3AE04C7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D9BCB-9BFE-4E6A-093E-DB617E538C83}"/>
              </a:ext>
            </a:extLst>
          </p:cNvPr>
          <p:cNvSpPr>
            <a:spLocks noGrp="1"/>
          </p:cNvSpPr>
          <p:nvPr>
            <p:ph type="title"/>
          </p:nvPr>
        </p:nvSpPr>
        <p:spPr>
          <a:xfrm>
            <a:off x="376518" y="223413"/>
            <a:ext cx="11739282" cy="1325563"/>
          </a:xfrm>
        </p:spPr>
        <p:txBody>
          <a:bodyPr/>
          <a:lstStyle/>
          <a:p>
            <a:r>
              <a:rPr lang="en-GB" dirty="0"/>
              <a:t>Editing Citation Records (UI) – Clashing Information</a:t>
            </a:r>
          </a:p>
        </p:txBody>
      </p:sp>
      <p:pic>
        <p:nvPicPr>
          <p:cNvPr id="6" name="Picture 5">
            <a:extLst>
              <a:ext uri="{FF2B5EF4-FFF2-40B4-BE49-F238E27FC236}">
                <a16:creationId xmlns:a16="http://schemas.microsoft.com/office/drawing/2014/main" id="{98BAD744-34C7-40E4-AF53-0175D0CB86F8}"/>
              </a:ext>
            </a:extLst>
          </p:cNvPr>
          <p:cNvPicPr>
            <a:picLocks noChangeAspect="1"/>
          </p:cNvPicPr>
          <p:nvPr/>
        </p:nvPicPr>
        <p:blipFill>
          <a:blip r:embed="rId2"/>
          <a:stretch>
            <a:fillRect/>
          </a:stretch>
        </p:blipFill>
        <p:spPr>
          <a:xfrm>
            <a:off x="460131" y="1284243"/>
            <a:ext cx="11402098" cy="3146355"/>
          </a:xfrm>
          <a:prstGeom prst="rect">
            <a:avLst/>
          </a:prstGeom>
        </p:spPr>
      </p:pic>
    </p:spTree>
    <p:extLst>
      <p:ext uri="{BB962C8B-B14F-4D97-AF65-F5344CB8AC3E}">
        <p14:creationId xmlns:p14="http://schemas.microsoft.com/office/powerpoint/2010/main" val="2766356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E797C-CD22-ED0C-EB8C-6C8ABA0BB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E37000-6AA2-60F0-77E4-C3ADD19AD60F}"/>
              </a:ext>
            </a:extLst>
          </p:cNvPr>
          <p:cNvSpPr>
            <a:spLocks noGrp="1"/>
          </p:cNvSpPr>
          <p:nvPr>
            <p:ph type="title"/>
          </p:nvPr>
        </p:nvSpPr>
        <p:spPr>
          <a:xfrm>
            <a:off x="376518" y="223413"/>
            <a:ext cx="11739282" cy="1325563"/>
          </a:xfrm>
        </p:spPr>
        <p:txBody>
          <a:bodyPr/>
          <a:lstStyle/>
          <a:p>
            <a:r>
              <a:rPr lang="en-GB" dirty="0"/>
              <a:t>Editing Citation Records (UI) – Clashing Information</a:t>
            </a:r>
          </a:p>
        </p:txBody>
      </p:sp>
      <p:pic>
        <p:nvPicPr>
          <p:cNvPr id="6" name="Picture 5">
            <a:extLst>
              <a:ext uri="{FF2B5EF4-FFF2-40B4-BE49-F238E27FC236}">
                <a16:creationId xmlns:a16="http://schemas.microsoft.com/office/drawing/2014/main" id="{873E68CE-4EA0-E029-AF36-9815D243BB0A}"/>
              </a:ext>
            </a:extLst>
          </p:cNvPr>
          <p:cNvPicPr>
            <a:picLocks noChangeAspect="1"/>
          </p:cNvPicPr>
          <p:nvPr/>
        </p:nvPicPr>
        <p:blipFill>
          <a:blip r:embed="rId2"/>
          <a:stretch>
            <a:fillRect/>
          </a:stretch>
        </p:blipFill>
        <p:spPr>
          <a:xfrm>
            <a:off x="460131" y="1284243"/>
            <a:ext cx="11402098" cy="3146355"/>
          </a:xfrm>
          <a:prstGeom prst="rect">
            <a:avLst/>
          </a:prstGeom>
        </p:spPr>
      </p:pic>
      <p:sp>
        <p:nvSpPr>
          <p:cNvPr id="7" name="Oval 6">
            <a:extLst>
              <a:ext uri="{FF2B5EF4-FFF2-40B4-BE49-F238E27FC236}">
                <a16:creationId xmlns:a16="http://schemas.microsoft.com/office/drawing/2014/main" id="{46CFF875-A6E0-67C7-BE48-7B6FEE1CBA64}"/>
              </a:ext>
            </a:extLst>
          </p:cNvPr>
          <p:cNvSpPr/>
          <p:nvPr/>
        </p:nvSpPr>
        <p:spPr>
          <a:xfrm>
            <a:off x="1649691" y="3355942"/>
            <a:ext cx="1310325" cy="28280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Oval 2">
            <a:extLst>
              <a:ext uri="{FF2B5EF4-FFF2-40B4-BE49-F238E27FC236}">
                <a16:creationId xmlns:a16="http://schemas.microsoft.com/office/drawing/2014/main" id="{2AB5B922-9010-05BE-0698-67E2B8654290}"/>
              </a:ext>
            </a:extLst>
          </p:cNvPr>
          <p:cNvSpPr/>
          <p:nvPr/>
        </p:nvSpPr>
        <p:spPr>
          <a:xfrm>
            <a:off x="4545291" y="3355942"/>
            <a:ext cx="2110033" cy="28280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Oval 3">
            <a:extLst>
              <a:ext uri="{FF2B5EF4-FFF2-40B4-BE49-F238E27FC236}">
                <a16:creationId xmlns:a16="http://schemas.microsoft.com/office/drawing/2014/main" id="{1A3ABF30-CD11-2421-95EC-55DB29AB217E}"/>
              </a:ext>
            </a:extLst>
          </p:cNvPr>
          <p:cNvSpPr/>
          <p:nvPr/>
        </p:nvSpPr>
        <p:spPr>
          <a:xfrm>
            <a:off x="1021237" y="3610466"/>
            <a:ext cx="2551522" cy="28280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Box 4">
            <a:extLst>
              <a:ext uri="{FF2B5EF4-FFF2-40B4-BE49-F238E27FC236}">
                <a16:creationId xmlns:a16="http://schemas.microsoft.com/office/drawing/2014/main" id="{D135371B-9C22-EB32-1DF8-96A69B1DF999}"/>
              </a:ext>
            </a:extLst>
          </p:cNvPr>
          <p:cNvSpPr txBox="1"/>
          <p:nvPr/>
        </p:nvSpPr>
        <p:spPr>
          <a:xfrm>
            <a:off x="744718" y="4500456"/>
            <a:ext cx="6340069" cy="369332"/>
          </a:xfrm>
          <a:prstGeom prst="rect">
            <a:avLst/>
          </a:prstGeom>
          <a:noFill/>
        </p:spPr>
        <p:txBody>
          <a:bodyPr wrap="none" rtlCol="0">
            <a:spAutoFit/>
          </a:bodyPr>
          <a:lstStyle/>
          <a:p>
            <a:r>
              <a:rPr lang="en-GB" dirty="0"/>
              <a:t>Existing user: Daniel Westwood (</a:t>
            </a:r>
            <a:r>
              <a:rPr lang="en-GB" dirty="0" err="1"/>
              <a:t>daniel.westwood@stfc.ac.uk</a:t>
            </a:r>
            <a:r>
              <a:rPr lang="en-GB" dirty="0"/>
              <a:t>)</a:t>
            </a:r>
          </a:p>
        </p:txBody>
      </p:sp>
      <p:sp>
        <p:nvSpPr>
          <p:cNvPr id="8" name="Rectangle 7">
            <a:extLst>
              <a:ext uri="{FF2B5EF4-FFF2-40B4-BE49-F238E27FC236}">
                <a16:creationId xmlns:a16="http://schemas.microsoft.com/office/drawing/2014/main" id="{15F3B42D-0427-F832-DA44-EE35218757E6}"/>
              </a:ext>
            </a:extLst>
          </p:cNvPr>
          <p:cNvSpPr/>
          <p:nvPr/>
        </p:nvSpPr>
        <p:spPr>
          <a:xfrm>
            <a:off x="460130" y="4869787"/>
            <a:ext cx="5384489" cy="17647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u="sng" dirty="0"/>
              <a:t>Information Update</a:t>
            </a:r>
          </a:p>
          <a:p>
            <a:r>
              <a:rPr lang="en-GB" dirty="0"/>
              <a:t>Daniel Westwood email should not be @</a:t>
            </a:r>
            <a:r>
              <a:rPr lang="en-GB" dirty="0" err="1"/>
              <a:t>stfc.ac.uk</a:t>
            </a:r>
            <a:r>
              <a:rPr lang="en-GB" dirty="0"/>
              <a:t>. Information should be updated to the correct email, so this warning can be ignored.</a:t>
            </a:r>
          </a:p>
        </p:txBody>
      </p:sp>
      <p:sp>
        <p:nvSpPr>
          <p:cNvPr id="10" name="Rectangle 9">
            <a:extLst>
              <a:ext uri="{FF2B5EF4-FFF2-40B4-BE49-F238E27FC236}">
                <a16:creationId xmlns:a16="http://schemas.microsoft.com/office/drawing/2014/main" id="{237FFFF4-1A49-A5F2-E08E-E654B450AE0A}"/>
              </a:ext>
            </a:extLst>
          </p:cNvPr>
          <p:cNvSpPr/>
          <p:nvPr/>
        </p:nvSpPr>
        <p:spPr>
          <a:xfrm>
            <a:off x="6347381" y="4869786"/>
            <a:ext cx="5384489" cy="1764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GB" sz="1600" u="sng" dirty="0"/>
              <a:t>Different person</a:t>
            </a:r>
          </a:p>
          <a:p>
            <a:r>
              <a:rPr lang="en-GB" sz="1600" dirty="0"/>
              <a:t>Daniel Westwood (STFC) and Daniel Westwood (Met Office) are </a:t>
            </a:r>
            <a:r>
              <a:rPr lang="en-GB" sz="1600" b="1" dirty="0"/>
              <a:t>two different people</a:t>
            </a:r>
            <a:r>
              <a:rPr lang="en-GB" sz="1600" dirty="0"/>
              <a:t>. You will need to add </a:t>
            </a:r>
            <a:r>
              <a:rPr lang="en-GB" sz="1600" b="1" dirty="0"/>
              <a:t>middle name information</a:t>
            </a:r>
            <a:r>
              <a:rPr lang="en-GB" sz="1600" dirty="0"/>
              <a:t> to the new Party to distinguish from the existing Party. If this cannot be completed, contact the CEDA Helpdesk for assistance resolving the issue.</a:t>
            </a:r>
          </a:p>
        </p:txBody>
      </p:sp>
    </p:spTree>
    <p:extLst>
      <p:ext uri="{BB962C8B-B14F-4D97-AF65-F5344CB8AC3E}">
        <p14:creationId xmlns:p14="http://schemas.microsoft.com/office/powerpoint/2010/main" val="263164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44AA4-1799-CDB8-1C61-D2E46A9371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DA569D-9177-2BA7-866D-5C5C2741CFA4}"/>
              </a:ext>
            </a:extLst>
          </p:cNvPr>
          <p:cNvSpPr>
            <a:spLocks noGrp="1"/>
          </p:cNvSpPr>
          <p:nvPr>
            <p:ph type="title"/>
          </p:nvPr>
        </p:nvSpPr>
        <p:spPr>
          <a:xfrm>
            <a:off x="376518" y="223413"/>
            <a:ext cx="11739282" cy="1325563"/>
          </a:xfrm>
        </p:spPr>
        <p:txBody>
          <a:bodyPr/>
          <a:lstStyle/>
          <a:p>
            <a:r>
              <a:rPr lang="en-GB" dirty="0"/>
              <a:t>Editing Citation Records (UI) – Clashing Information</a:t>
            </a:r>
          </a:p>
        </p:txBody>
      </p:sp>
      <p:pic>
        <p:nvPicPr>
          <p:cNvPr id="13" name="Picture 12">
            <a:extLst>
              <a:ext uri="{FF2B5EF4-FFF2-40B4-BE49-F238E27FC236}">
                <a16:creationId xmlns:a16="http://schemas.microsoft.com/office/drawing/2014/main" id="{A2BE0574-C631-BD1B-10E6-BE3316108D25}"/>
              </a:ext>
            </a:extLst>
          </p:cNvPr>
          <p:cNvPicPr>
            <a:picLocks noChangeAspect="1"/>
          </p:cNvPicPr>
          <p:nvPr/>
        </p:nvPicPr>
        <p:blipFill>
          <a:blip r:embed="rId2"/>
          <a:stretch>
            <a:fillRect/>
          </a:stretch>
        </p:blipFill>
        <p:spPr>
          <a:xfrm>
            <a:off x="2423536" y="2020843"/>
            <a:ext cx="7344927" cy="2499520"/>
          </a:xfrm>
          <a:prstGeom prst="rect">
            <a:avLst/>
          </a:prstGeom>
        </p:spPr>
      </p:pic>
      <p:pic>
        <p:nvPicPr>
          <p:cNvPr id="17" name="Picture 16">
            <a:extLst>
              <a:ext uri="{FF2B5EF4-FFF2-40B4-BE49-F238E27FC236}">
                <a16:creationId xmlns:a16="http://schemas.microsoft.com/office/drawing/2014/main" id="{9A9C7FD4-82F5-78E8-1166-CC8D38A48B71}"/>
              </a:ext>
            </a:extLst>
          </p:cNvPr>
          <p:cNvPicPr>
            <a:picLocks noChangeAspect="1"/>
          </p:cNvPicPr>
          <p:nvPr/>
        </p:nvPicPr>
        <p:blipFill>
          <a:blip r:embed="rId3"/>
          <a:stretch>
            <a:fillRect/>
          </a:stretch>
        </p:blipFill>
        <p:spPr>
          <a:xfrm>
            <a:off x="175163" y="4520363"/>
            <a:ext cx="4496745" cy="2021100"/>
          </a:xfrm>
          <a:prstGeom prst="rect">
            <a:avLst/>
          </a:prstGeom>
        </p:spPr>
      </p:pic>
      <p:pic>
        <p:nvPicPr>
          <p:cNvPr id="21" name="Picture 20">
            <a:extLst>
              <a:ext uri="{FF2B5EF4-FFF2-40B4-BE49-F238E27FC236}">
                <a16:creationId xmlns:a16="http://schemas.microsoft.com/office/drawing/2014/main" id="{80987B6F-0702-A93A-C53E-AC7BDF8829A8}"/>
              </a:ext>
            </a:extLst>
          </p:cNvPr>
          <p:cNvPicPr>
            <a:picLocks noChangeAspect="1"/>
          </p:cNvPicPr>
          <p:nvPr/>
        </p:nvPicPr>
        <p:blipFill>
          <a:blip r:embed="rId4"/>
          <a:stretch>
            <a:fillRect/>
          </a:stretch>
        </p:blipFill>
        <p:spPr>
          <a:xfrm>
            <a:off x="7055832" y="4520363"/>
            <a:ext cx="4496745" cy="2021100"/>
          </a:xfrm>
          <a:prstGeom prst="rect">
            <a:avLst/>
          </a:prstGeom>
        </p:spPr>
      </p:pic>
      <p:cxnSp>
        <p:nvCxnSpPr>
          <p:cNvPr id="23" name="Straight Arrow Connector 22">
            <a:extLst>
              <a:ext uri="{FF2B5EF4-FFF2-40B4-BE49-F238E27FC236}">
                <a16:creationId xmlns:a16="http://schemas.microsoft.com/office/drawing/2014/main" id="{53C6B94A-36E7-1BDF-2FFB-B0DF13F36B57}"/>
              </a:ext>
            </a:extLst>
          </p:cNvPr>
          <p:cNvCxnSpPr/>
          <p:nvPr/>
        </p:nvCxnSpPr>
        <p:spPr>
          <a:xfrm flipH="1">
            <a:off x="1743959" y="3921551"/>
            <a:ext cx="679576" cy="1055802"/>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4" name="Straight Arrow Connector 23">
            <a:extLst>
              <a:ext uri="{FF2B5EF4-FFF2-40B4-BE49-F238E27FC236}">
                <a16:creationId xmlns:a16="http://schemas.microsoft.com/office/drawing/2014/main" id="{60428544-5C22-FA33-FFD9-DC7895D17139}"/>
              </a:ext>
            </a:extLst>
          </p:cNvPr>
          <p:cNvCxnSpPr>
            <a:cxnSpLocks/>
          </p:cNvCxnSpPr>
          <p:nvPr/>
        </p:nvCxnSpPr>
        <p:spPr>
          <a:xfrm>
            <a:off x="4671908" y="4281106"/>
            <a:ext cx="2219086" cy="87535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8" name="Rectangle 27">
            <a:extLst>
              <a:ext uri="{FF2B5EF4-FFF2-40B4-BE49-F238E27FC236}">
                <a16:creationId xmlns:a16="http://schemas.microsoft.com/office/drawing/2014/main" id="{D12EE6E1-DD16-45F4-8EA3-77E25F833867}"/>
              </a:ext>
            </a:extLst>
          </p:cNvPr>
          <p:cNvSpPr/>
          <p:nvPr/>
        </p:nvSpPr>
        <p:spPr>
          <a:xfrm>
            <a:off x="412364" y="1309908"/>
            <a:ext cx="11403118" cy="61316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GB" dirty="0"/>
              <a:t>Different people with the same name </a:t>
            </a:r>
            <a:r>
              <a:rPr lang="en-GB" b="1" dirty="0"/>
              <a:t>MUST</a:t>
            </a:r>
            <a:r>
              <a:rPr lang="en-GB" dirty="0"/>
              <a:t> be differentiated using middle names, even though they’re only displayed on the Party landing pages.</a:t>
            </a:r>
          </a:p>
        </p:txBody>
      </p:sp>
    </p:spTree>
    <p:extLst>
      <p:ext uri="{BB962C8B-B14F-4D97-AF65-F5344CB8AC3E}">
        <p14:creationId xmlns:p14="http://schemas.microsoft.com/office/powerpoint/2010/main" val="38294332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8A181-3329-F264-F79C-7F1F721168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41AEB-93C5-77CA-2B4B-DB090CD6906C}"/>
              </a:ext>
            </a:extLst>
          </p:cNvPr>
          <p:cNvSpPr>
            <a:spLocks noGrp="1"/>
          </p:cNvSpPr>
          <p:nvPr>
            <p:ph type="title"/>
          </p:nvPr>
        </p:nvSpPr>
        <p:spPr>
          <a:xfrm>
            <a:off x="3348318" y="311336"/>
            <a:ext cx="8234082" cy="1325563"/>
          </a:xfrm>
        </p:spPr>
        <p:txBody>
          <a:bodyPr/>
          <a:lstStyle/>
          <a:p>
            <a:r>
              <a:rPr lang="en-GB" dirty="0"/>
              <a:t>Editing Citation Records (UI)</a:t>
            </a:r>
          </a:p>
        </p:txBody>
      </p:sp>
      <p:sp>
        <p:nvSpPr>
          <p:cNvPr id="5" name="Content Placeholder 4">
            <a:extLst>
              <a:ext uri="{FF2B5EF4-FFF2-40B4-BE49-F238E27FC236}">
                <a16:creationId xmlns:a16="http://schemas.microsoft.com/office/drawing/2014/main" id="{A1278B15-78B3-F750-1193-E7611936AA73}"/>
              </a:ext>
            </a:extLst>
          </p:cNvPr>
          <p:cNvSpPr>
            <a:spLocks noGrp="1"/>
          </p:cNvSpPr>
          <p:nvPr>
            <p:ph idx="1"/>
          </p:nvPr>
        </p:nvSpPr>
        <p:spPr>
          <a:xfrm>
            <a:off x="448235" y="1636899"/>
            <a:ext cx="4446494" cy="4685460"/>
          </a:xfrm>
        </p:spPr>
        <p:txBody>
          <a:bodyPr>
            <a:normAutofit lnSpcReduction="10000"/>
          </a:bodyPr>
          <a:lstStyle/>
          <a:p>
            <a:r>
              <a:rPr lang="en-GB" dirty="0"/>
              <a:t>Any number of additional affiliated institutions/funder information may be added here. </a:t>
            </a:r>
          </a:p>
          <a:p>
            <a:r>
              <a:rPr lang="en-GB" dirty="0"/>
              <a:t>Note this interface cannot be used to edit institution or funding stream level information if they already exist, although affiliations can still be ‘removed’ by clicking the red X</a:t>
            </a:r>
          </a:p>
        </p:txBody>
      </p:sp>
      <p:pic>
        <p:nvPicPr>
          <p:cNvPr id="3" name="Picture 2">
            <a:extLst>
              <a:ext uri="{FF2B5EF4-FFF2-40B4-BE49-F238E27FC236}">
                <a16:creationId xmlns:a16="http://schemas.microsoft.com/office/drawing/2014/main" id="{680C6149-D89E-6728-F5B9-C7058408549D}"/>
              </a:ext>
            </a:extLst>
          </p:cNvPr>
          <p:cNvPicPr>
            <a:picLocks noChangeAspect="1"/>
          </p:cNvPicPr>
          <p:nvPr/>
        </p:nvPicPr>
        <p:blipFill>
          <a:blip r:embed="rId2"/>
          <a:stretch>
            <a:fillRect/>
          </a:stretch>
        </p:blipFill>
        <p:spPr>
          <a:xfrm>
            <a:off x="5412441" y="1826559"/>
            <a:ext cx="6477000" cy="4495800"/>
          </a:xfrm>
          <a:prstGeom prst="rect">
            <a:avLst/>
          </a:prstGeom>
        </p:spPr>
      </p:pic>
    </p:spTree>
    <p:extLst>
      <p:ext uri="{BB962C8B-B14F-4D97-AF65-F5344CB8AC3E}">
        <p14:creationId xmlns:p14="http://schemas.microsoft.com/office/powerpoint/2010/main" val="3973609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91510-B478-30FB-5175-1FCF86BF3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B2C940-CFF4-37D5-A358-B61A7FBAF81F}"/>
              </a:ext>
            </a:extLst>
          </p:cNvPr>
          <p:cNvSpPr>
            <a:spLocks noGrp="1"/>
          </p:cNvSpPr>
          <p:nvPr>
            <p:ph type="title"/>
          </p:nvPr>
        </p:nvSpPr>
        <p:spPr>
          <a:xfrm>
            <a:off x="3348318" y="311336"/>
            <a:ext cx="8234082" cy="1325563"/>
          </a:xfrm>
        </p:spPr>
        <p:txBody>
          <a:bodyPr/>
          <a:lstStyle/>
          <a:p>
            <a:r>
              <a:rPr lang="en-GB" dirty="0"/>
              <a:t>Editing Citation Records (UI)</a:t>
            </a:r>
          </a:p>
        </p:txBody>
      </p:sp>
      <p:sp>
        <p:nvSpPr>
          <p:cNvPr id="5" name="Content Placeholder 4">
            <a:extLst>
              <a:ext uri="{FF2B5EF4-FFF2-40B4-BE49-F238E27FC236}">
                <a16:creationId xmlns:a16="http://schemas.microsoft.com/office/drawing/2014/main" id="{2B1F29C8-54C5-2C02-38B5-31F432F8A2A0}"/>
              </a:ext>
            </a:extLst>
          </p:cNvPr>
          <p:cNvSpPr>
            <a:spLocks noGrp="1"/>
          </p:cNvSpPr>
          <p:nvPr>
            <p:ph idx="1"/>
          </p:nvPr>
        </p:nvSpPr>
        <p:spPr>
          <a:xfrm>
            <a:off x="448235" y="1636899"/>
            <a:ext cx="4446494" cy="4685460"/>
          </a:xfrm>
        </p:spPr>
        <p:txBody>
          <a:bodyPr>
            <a:normAutofit lnSpcReduction="10000"/>
          </a:bodyPr>
          <a:lstStyle/>
          <a:p>
            <a:r>
              <a:rPr lang="en-GB" dirty="0"/>
              <a:t>References may be added using this interface as well. Ensure both the Title and DOI match exactly with the content in the `Cite As` field, otherwise the linking may not render correctly in the UI.</a:t>
            </a:r>
          </a:p>
          <a:p>
            <a:endParaRPr lang="en-GB" dirty="0"/>
          </a:p>
          <a:p>
            <a:r>
              <a:rPr lang="en-GB" dirty="0"/>
              <a:t>Possible Reference relations are listed in the dropdown.</a:t>
            </a:r>
          </a:p>
        </p:txBody>
      </p:sp>
      <p:pic>
        <p:nvPicPr>
          <p:cNvPr id="4" name="Picture 3">
            <a:extLst>
              <a:ext uri="{FF2B5EF4-FFF2-40B4-BE49-F238E27FC236}">
                <a16:creationId xmlns:a16="http://schemas.microsoft.com/office/drawing/2014/main" id="{B75FA5C2-757D-B01B-04E5-A52016DEF6DF}"/>
              </a:ext>
            </a:extLst>
          </p:cNvPr>
          <p:cNvPicPr>
            <a:picLocks noChangeAspect="1"/>
          </p:cNvPicPr>
          <p:nvPr/>
        </p:nvPicPr>
        <p:blipFill>
          <a:blip r:embed="rId2"/>
          <a:stretch>
            <a:fillRect/>
          </a:stretch>
        </p:blipFill>
        <p:spPr>
          <a:xfrm>
            <a:off x="5266765" y="1947629"/>
            <a:ext cx="6477000" cy="4064000"/>
          </a:xfrm>
          <a:prstGeom prst="rect">
            <a:avLst/>
          </a:prstGeom>
        </p:spPr>
      </p:pic>
    </p:spTree>
    <p:extLst>
      <p:ext uri="{BB962C8B-B14F-4D97-AF65-F5344CB8AC3E}">
        <p14:creationId xmlns:p14="http://schemas.microsoft.com/office/powerpoint/2010/main" val="1285085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664A5-61AB-F99B-4B0F-E6ACC2CC4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5F2CC-E23E-018A-9314-3A7C86029906}"/>
              </a:ext>
            </a:extLst>
          </p:cNvPr>
          <p:cNvSpPr>
            <a:spLocks noGrp="1"/>
          </p:cNvSpPr>
          <p:nvPr>
            <p:ph type="title"/>
          </p:nvPr>
        </p:nvSpPr>
        <p:spPr>
          <a:xfrm>
            <a:off x="3348318" y="311336"/>
            <a:ext cx="8234082" cy="1325563"/>
          </a:xfrm>
        </p:spPr>
        <p:txBody>
          <a:bodyPr/>
          <a:lstStyle/>
          <a:p>
            <a:r>
              <a:rPr lang="en-GB" dirty="0"/>
              <a:t>Editing Citation Records (UI)</a:t>
            </a:r>
          </a:p>
        </p:txBody>
      </p:sp>
      <p:sp>
        <p:nvSpPr>
          <p:cNvPr id="5" name="Content Placeholder 4">
            <a:extLst>
              <a:ext uri="{FF2B5EF4-FFF2-40B4-BE49-F238E27FC236}">
                <a16:creationId xmlns:a16="http://schemas.microsoft.com/office/drawing/2014/main" id="{53A134F4-CCC3-FEE6-6B78-DA4F9D4E6D64}"/>
              </a:ext>
            </a:extLst>
          </p:cNvPr>
          <p:cNvSpPr>
            <a:spLocks noGrp="1"/>
          </p:cNvSpPr>
          <p:nvPr>
            <p:ph idx="1"/>
          </p:nvPr>
        </p:nvSpPr>
        <p:spPr>
          <a:xfrm>
            <a:off x="448235" y="4666129"/>
            <a:ext cx="10134600" cy="1656229"/>
          </a:xfrm>
        </p:spPr>
        <p:txBody>
          <a:bodyPr>
            <a:normAutofit/>
          </a:bodyPr>
          <a:lstStyle/>
          <a:p>
            <a:r>
              <a:rPr lang="en-GB" dirty="0"/>
              <a:t>To replicate all recorded information to other citation records, simply tick the box to `Replicate Info` and provide the Titles of other records to be replicated. This will also allow multiple DOIs to be minted for multiple records simultaneously.</a:t>
            </a:r>
          </a:p>
        </p:txBody>
      </p:sp>
      <p:pic>
        <p:nvPicPr>
          <p:cNvPr id="3" name="Picture 2">
            <a:extLst>
              <a:ext uri="{FF2B5EF4-FFF2-40B4-BE49-F238E27FC236}">
                <a16:creationId xmlns:a16="http://schemas.microsoft.com/office/drawing/2014/main" id="{15A50727-B5A6-C302-2A93-434310A826ED}"/>
              </a:ext>
            </a:extLst>
          </p:cNvPr>
          <p:cNvPicPr>
            <a:picLocks noChangeAspect="1"/>
          </p:cNvPicPr>
          <p:nvPr/>
        </p:nvPicPr>
        <p:blipFill>
          <a:blip r:embed="rId2"/>
          <a:stretch>
            <a:fillRect/>
          </a:stretch>
        </p:blipFill>
        <p:spPr>
          <a:xfrm>
            <a:off x="609600" y="1283499"/>
            <a:ext cx="8951259" cy="3194371"/>
          </a:xfrm>
          <a:prstGeom prst="rect">
            <a:avLst/>
          </a:prstGeom>
        </p:spPr>
      </p:pic>
    </p:spTree>
    <p:extLst>
      <p:ext uri="{BB962C8B-B14F-4D97-AF65-F5344CB8AC3E}">
        <p14:creationId xmlns:p14="http://schemas.microsoft.com/office/powerpoint/2010/main" val="22093007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C629-62BA-E704-1572-FCB48C55C8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FF4894-E17F-D9A0-2695-2E8B09FC6509}"/>
              </a:ext>
            </a:extLst>
          </p:cNvPr>
          <p:cNvSpPr>
            <a:spLocks noGrp="1"/>
          </p:cNvSpPr>
          <p:nvPr>
            <p:ph type="title"/>
          </p:nvPr>
        </p:nvSpPr>
        <p:spPr>
          <a:xfrm>
            <a:off x="3348318" y="311336"/>
            <a:ext cx="8234082" cy="1325563"/>
          </a:xfrm>
        </p:spPr>
        <p:txBody>
          <a:bodyPr/>
          <a:lstStyle/>
          <a:p>
            <a:r>
              <a:rPr lang="en-GB" dirty="0"/>
              <a:t>Editing Citation Records (UI)</a:t>
            </a:r>
          </a:p>
        </p:txBody>
      </p:sp>
      <p:sp>
        <p:nvSpPr>
          <p:cNvPr id="5" name="Content Placeholder 4">
            <a:extLst>
              <a:ext uri="{FF2B5EF4-FFF2-40B4-BE49-F238E27FC236}">
                <a16:creationId xmlns:a16="http://schemas.microsoft.com/office/drawing/2014/main" id="{EDCFBE61-3043-1E1E-47D8-2BD0E3CC12F7}"/>
              </a:ext>
            </a:extLst>
          </p:cNvPr>
          <p:cNvSpPr>
            <a:spLocks noGrp="1"/>
          </p:cNvSpPr>
          <p:nvPr>
            <p:ph idx="1"/>
          </p:nvPr>
        </p:nvSpPr>
        <p:spPr>
          <a:xfrm>
            <a:off x="448235" y="4666129"/>
            <a:ext cx="10134600" cy="1656229"/>
          </a:xfrm>
        </p:spPr>
        <p:txBody>
          <a:bodyPr>
            <a:normAutofit/>
          </a:bodyPr>
          <a:lstStyle/>
          <a:p>
            <a:r>
              <a:rPr lang="en-GB" dirty="0"/>
              <a:t>To replicate all recorded information to other citation records, simply tick the box to `Replicate Info` and provide the Titles of other records to be replicated. This will also allow multiple DOIs to be minted for multiple records simultaneously.</a:t>
            </a:r>
          </a:p>
        </p:txBody>
      </p:sp>
      <p:pic>
        <p:nvPicPr>
          <p:cNvPr id="3" name="Picture 2">
            <a:extLst>
              <a:ext uri="{FF2B5EF4-FFF2-40B4-BE49-F238E27FC236}">
                <a16:creationId xmlns:a16="http://schemas.microsoft.com/office/drawing/2014/main" id="{31131AF0-E91D-E416-6E05-01DD9B358887}"/>
              </a:ext>
            </a:extLst>
          </p:cNvPr>
          <p:cNvPicPr>
            <a:picLocks noChangeAspect="1"/>
          </p:cNvPicPr>
          <p:nvPr/>
        </p:nvPicPr>
        <p:blipFill>
          <a:blip r:embed="rId2"/>
          <a:stretch>
            <a:fillRect/>
          </a:stretch>
        </p:blipFill>
        <p:spPr>
          <a:xfrm>
            <a:off x="609600" y="1283499"/>
            <a:ext cx="8951259" cy="3194371"/>
          </a:xfrm>
          <a:prstGeom prst="rect">
            <a:avLst/>
          </a:prstGeom>
        </p:spPr>
      </p:pic>
      <p:sp>
        <p:nvSpPr>
          <p:cNvPr id="4" name="Rectangle 3">
            <a:extLst>
              <a:ext uri="{FF2B5EF4-FFF2-40B4-BE49-F238E27FC236}">
                <a16:creationId xmlns:a16="http://schemas.microsoft.com/office/drawing/2014/main" id="{7C1DDFDA-D220-6A47-6756-76A6CA2929CB}"/>
              </a:ext>
            </a:extLst>
          </p:cNvPr>
          <p:cNvSpPr/>
          <p:nvPr/>
        </p:nvSpPr>
        <p:spPr>
          <a:xfrm>
            <a:off x="7947324" y="2100532"/>
            <a:ext cx="3635076" cy="197997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GB" dirty="0"/>
              <a:t>Note: Replication can now only be used to update existing records because the mandatory search facets are not replicated (01/09/2026)</a:t>
            </a:r>
          </a:p>
        </p:txBody>
      </p:sp>
    </p:spTree>
    <p:extLst>
      <p:ext uri="{BB962C8B-B14F-4D97-AF65-F5344CB8AC3E}">
        <p14:creationId xmlns:p14="http://schemas.microsoft.com/office/powerpoint/2010/main" val="504940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F81BB-A338-C60B-3FB8-9FDE285730F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A501601-D7B2-613F-0F5A-D27ED7C36D4D}"/>
              </a:ext>
            </a:extLst>
          </p:cNvPr>
          <p:cNvPicPr>
            <a:picLocks noChangeAspect="1"/>
          </p:cNvPicPr>
          <p:nvPr/>
        </p:nvPicPr>
        <p:blipFill>
          <a:blip r:embed="rId2"/>
          <a:stretch>
            <a:fillRect/>
          </a:stretch>
        </p:blipFill>
        <p:spPr>
          <a:xfrm>
            <a:off x="762692" y="1444331"/>
            <a:ext cx="9533767" cy="1880759"/>
          </a:xfrm>
          <a:prstGeom prst="rect">
            <a:avLst/>
          </a:prstGeom>
        </p:spPr>
      </p:pic>
      <p:sp>
        <p:nvSpPr>
          <p:cNvPr id="2" name="Title 1">
            <a:extLst>
              <a:ext uri="{FF2B5EF4-FFF2-40B4-BE49-F238E27FC236}">
                <a16:creationId xmlns:a16="http://schemas.microsoft.com/office/drawing/2014/main" id="{CF60D6D9-8CEF-6507-EFA8-E7593A8EE2D4}"/>
              </a:ext>
            </a:extLst>
          </p:cNvPr>
          <p:cNvSpPr>
            <a:spLocks noGrp="1"/>
          </p:cNvSpPr>
          <p:nvPr>
            <p:ph type="title"/>
          </p:nvPr>
        </p:nvSpPr>
        <p:spPr>
          <a:xfrm>
            <a:off x="3348318" y="311336"/>
            <a:ext cx="8234082" cy="1325563"/>
          </a:xfrm>
        </p:spPr>
        <p:txBody>
          <a:bodyPr/>
          <a:lstStyle/>
          <a:p>
            <a:r>
              <a:rPr lang="en-GB" dirty="0"/>
              <a:t>Minting DOIs (UI)</a:t>
            </a:r>
          </a:p>
        </p:txBody>
      </p:sp>
      <p:sp>
        <p:nvSpPr>
          <p:cNvPr id="5" name="Content Placeholder 4">
            <a:extLst>
              <a:ext uri="{FF2B5EF4-FFF2-40B4-BE49-F238E27FC236}">
                <a16:creationId xmlns:a16="http://schemas.microsoft.com/office/drawing/2014/main" id="{88141BC9-5117-FC63-812E-A386CDE949E0}"/>
              </a:ext>
            </a:extLst>
          </p:cNvPr>
          <p:cNvSpPr>
            <a:spLocks noGrp="1"/>
          </p:cNvSpPr>
          <p:nvPr>
            <p:ph idx="1"/>
          </p:nvPr>
        </p:nvSpPr>
        <p:spPr>
          <a:xfrm>
            <a:off x="4091383" y="2886569"/>
            <a:ext cx="7713382" cy="3901460"/>
          </a:xfrm>
        </p:spPr>
        <p:txBody>
          <a:bodyPr>
            <a:normAutofit/>
          </a:bodyPr>
          <a:lstStyle/>
          <a:p>
            <a:r>
              <a:rPr lang="en-GB" dirty="0"/>
              <a:t>If all information in the citation record is now accurate and ready for a DOI to be minted. Check the `Publish on Save` </a:t>
            </a:r>
            <a:r>
              <a:rPr lang="en-GB" dirty="0" err="1"/>
              <a:t>tickbox</a:t>
            </a:r>
            <a:r>
              <a:rPr lang="en-GB" dirty="0"/>
              <a:t> before pressing `Update version`.</a:t>
            </a:r>
          </a:p>
          <a:p>
            <a:endParaRPr lang="en-GB" dirty="0"/>
          </a:p>
          <a:p>
            <a:r>
              <a:rPr lang="en-GB" dirty="0"/>
              <a:t>This will trigger the minting process. If successful, the citation record will present with `Published` next to the title, and a `Cite As` link will appear in the general information.</a:t>
            </a:r>
          </a:p>
        </p:txBody>
      </p:sp>
    </p:spTree>
    <p:extLst>
      <p:ext uri="{BB962C8B-B14F-4D97-AF65-F5344CB8AC3E}">
        <p14:creationId xmlns:p14="http://schemas.microsoft.com/office/powerpoint/2010/main" val="1632495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75FA3-7300-5C63-34D2-F99CAE127C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5D750-08D8-EACA-8E81-70B9B3E8AFE0}"/>
              </a:ext>
            </a:extLst>
          </p:cNvPr>
          <p:cNvSpPr>
            <a:spLocks noGrp="1"/>
          </p:cNvSpPr>
          <p:nvPr>
            <p:ph type="title"/>
          </p:nvPr>
        </p:nvSpPr>
        <p:spPr>
          <a:xfrm>
            <a:off x="3348318" y="311336"/>
            <a:ext cx="8234082" cy="1325563"/>
          </a:xfrm>
        </p:spPr>
        <p:txBody>
          <a:bodyPr/>
          <a:lstStyle/>
          <a:p>
            <a:r>
              <a:rPr lang="en-GB" dirty="0"/>
              <a:t>Minting DOIs (UI)</a:t>
            </a:r>
          </a:p>
        </p:txBody>
      </p:sp>
      <p:sp>
        <p:nvSpPr>
          <p:cNvPr id="5" name="Content Placeholder 4">
            <a:extLst>
              <a:ext uri="{FF2B5EF4-FFF2-40B4-BE49-F238E27FC236}">
                <a16:creationId xmlns:a16="http://schemas.microsoft.com/office/drawing/2014/main" id="{24FA905A-907C-F432-729F-3FDC04ADFC7C}"/>
              </a:ext>
            </a:extLst>
          </p:cNvPr>
          <p:cNvSpPr>
            <a:spLocks noGrp="1"/>
          </p:cNvSpPr>
          <p:nvPr>
            <p:ph idx="1"/>
          </p:nvPr>
        </p:nvSpPr>
        <p:spPr>
          <a:xfrm>
            <a:off x="448235" y="1748119"/>
            <a:ext cx="11295530" cy="4574240"/>
          </a:xfrm>
        </p:spPr>
        <p:txBody>
          <a:bodyPr>
            <a:normAutofit/>
          </a:bodyPr>
          <a:lstStyle/>
          <a:p>
            <a:pPr marL="0" indent="0">
              <a:buNone/>
            </a:pPr>
            <a:r>
              <a:rPr lang="en-GB" dirty="0"/>
              <a:t>Example of a Record where the DOI has been successfully minted.</a:t>
            </a:r>
          </a:p>
        </p:txBody>
      </p:sp>
      <p:pic>
        <p:nvPicPr>
          <p:cNvPr id="4" name="Picture 3">
            <a:extLst>
              <a:ext uri="{FF2B5EF4-FFF2-40B4-BE49-F238E27FC236}">
                <a16:creationId xmlns:a16="http://schemas.microsoft.com/office/drawing/2014/main" id="{1BFA6B37-58DE-3002-633A-F36F582EF6BF}"/>
              </a:ext>
            </a:extLst>
          </p:cNvPr>
          <p:cNvPicPr>
            <a:picLocks noChangeAspect="1"/>
          </p:cNvPicPr>
          <p:nvPr/>
        </p:nvPicPr>
        <p:blipFill>
          <a:blip r:embed="rId2"/>
          <a:srcRect r="15131"/>
          <a:stretch>
            <a:fillRect/>
          </a:stretch>
        </p:blipFill>
        <p:spPr>
          <a:xfrm>
            <a:off x="1142999" y="3151657"/>
            <a:ext cx="9906001" cy="1385294"/>
          </a:xfrm>
          <a:prstGeom prst="rect">
            <a:avLst/>
          </a:prstGeom>
        </p:spPr>
      </p:pic>
      <p:pic>
        <p:nvPicPr>
          <p:cNvPr id="10" name="Picture 9">
            <a:extLst>
              <a:ext uri="{FF2B5EF4-FFF2-40B4-BE49-F238E27FC236}">
                <a16:creationId xmlns:a16="http://schemas.microsoft.com/office/drawing/2014/main" id="{EFCD14D7-E8B0-BE64-FFAD-F84ABCBE556E}"/>
              </a:ext>
            </a:extLst>
          </p:cNvPr>
          <p:cNvPicPr>
            <a:picLocks noChangeAspect="1"/>
          </p:cNvPicPr>
          <p:nvPr/>
        </p:nvPicPr>
        <p:blipFill>
          <a:blip r:embed="rId3"/>
          <a:stretch>
            <a:fillRect/>
          </a:stretch>
        </p:blipFill>
        <p:spPr>
          <a:xfrm>
            <a:off x="1697652" y="2299362"/>
            <a:ext cx="7772400" cy="452181"/>
          </a:xfrm>
          <a:prstGeom prst="rect">
            <a:avLst/>
          </a:prstGeom>
        </p:spPr>
      </p:pic>
      <p:sp>
        <p:nvSpPr>
          <p:cNvPr id="7" name="Oval 6">
            <a:extLst>
              <a:ext uri="{FF2B5EF4-FFF2-40B4-BE49-F238E27FC236}">
                <a16:creationId xmlns:a16="http://schemas.microsoft.com/office/drawing/2014/main" id="{D623C61C-FFAD-F75E-7AB2-0C355635962F}"/>
              </a:ext>
            </a:extLst>
          </p:cNvPr>
          <p:cNvSpPr/>
          <p:nvPr/>
        </p:nvSpPr>
        <p:spPr>
          <a:xfrm>
            <a:off x="1697652" y="2360365"/>
            <a:ext cx="1287595" cy="391178"/>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Content Placeholder 4">
            <a:extLst>
              <a:ext uri="{FF2B5EF4-FFF2-40B4-BE49-F238E27FC236}">
                <a16:creationId xmlns:a16="http://schemas.microsoft.com/office/drawing/2014/main" id="{E1775C80-A798-56FC-2547-14DB9465E994}"/>
              </a:ext>
            </a:extLst>
          </p:cNvPr>
          <p:cNvSpPr txBox="1">
            <a:spLocks/>
          </p:cNvSpPr>
          <p:nvPr/>
        </p:nvSpPr>
        <p:spPr>
          <a:xfrm>
            <a:off x="914400" y="4937065"/>
            <a:ext cx="10134600" cy="16562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Click the </a:t>
            </a:r>
            <a:r>
              <a:rPr lang="en-GB" dirty="0" err="1"/>
              <a:t>BibTeX</a:t>
            </a:r>
            <a:r>
              <a:rPr lang="en-GB" dirty="0"/>
              <a:t> or RIS buttons to get a download of the referencing information in the respective formats. Report any issues to the CEDA Helpdesk</a:t>
            </a:r>
          </a:p>
        </p:txBody>
      </p:sp>
    </p:spTree>
    <p:extLst>
      <p:ext uri="{BB962C8B-B14F-4D97-AF65-F5344CB8AC3E}">
        <p14:creationId xmlns:p14="http://schemas.microsoft.com/office/powerpoint/2010/main" val="7711412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FF483-9D12-C76B-C22B-3F11EE3A8A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BCD1A-06F5-8F56-3E04-6C5F1A1822AE}"/>
              </a:ext>
            </a:extLst>
          </p:cNvPr>
          <p:cNvSpPr>
            <a:spLocks noGrp="1"/>
          </p:cNvSpPr>
          <p:nvPr>
            <p:ph type="title"/>
          </p:nvPr>
        </p:nvSpPr>
        <p:spPr/>
        <p:txBody>
          <a:bodyPr/>
          <a:lstStyle/>
          <a:p>
            <a:r>
              <a:rPr lang="en-GB" dirty="0"/>
              <a:t>Editing Citation Records (API)</a:t>
            </a:r>
          </a:p>
        </p:txBody>
      </p:sp>
      <p:sp>
        <p:nvSpPr>
          <p:cNvPr id="8" name="Content Placeholder 2">
            <a:extLst>
              <a:ext uri="{FF2B5EF4-FFF2-40B4-BE49-F238E27FC236}">
                <a16:creationId xmlns:a16="http://schemas.microsoft.com/office/drawing/2014/main" id="{55D9782D-A2A7-E5C0-A70B-8B3C12E9FE59}"/>
              </a:ext>
            </a:extLst>
          </p:cNvPr>
          <p:cNvSpPr>
            <a:spLocks noGrp="1"/>
          </p:cNvSpPr>
          <p:nvPr>
            <p:ph idx="1"/>
          </p:nvPr>
        </p:nvSpPr>
        <p:spPr>
          <a:xfrm>
            <a:off x="838200" y="1825625"/>
            <a:ext cx="10515600" cy="4351338"/>
          </a:xfrm>
        </p:spPr>
        <p:txBody>
          <a:bodyPr>
            <a:normAutofit lnSpcReduction="10000"/>
          </a:bodyPr>
          <a:lstStyle/>
          <a:p>
            <a:r>
              <a:rPr lang="en-GB" dirty="0"/>
              <a:t>The Citation Service API allows the creation of all affiliated records (parties, institutions etc.) directly from the citation, so there’s no need to input information separately. </a:t>
            </a:r>
          </a:p>
          <a:p>
            <a:endParaRPr lang="en-GB" dirty="0"/>
          </a:p>
          <a:p>
            <a:r>
              <a:rPr lang="en-GB" dirty="0"/>
              <a:t>See the example Citation record template in this repository for details on what to include.</a:t>
            </a:r>
          </a:p>
          <a:p>
            <a:endParaRPr lang="en-GB" dirty="0"/>
          </a:p>
          <a:p>
            <a:r>
              <a:rPr lang="en-GB" dirty="0"/>
              <a:t>The mandatory fields are: </a:t>
            </a:r>
          </a:p>
          <a:p>
            <a:pPr lvl="1"/>
            <a:r>
              <a:rPr lang="en-GB" dirty="0"/>
              <a:t>title OR CMIP7/CORDEX facets</a:t>
            </a:r>
          </a:p>
          <a:p>
            <a:pPr lvl="1"/>
            <a:r>
              <a:rPr lang="en-GB" dirty="0"/>
              <a:t>Primary author information (full name)</a:t>
            </a:r>
          </a:p>
        </p:txBody>
      </p:sp>
    </p:spTree>
    <p:extLst>
      <p:ext uri="{BB962C8B-B14F-4D97-AF65-F5344CB8AC3E}">
        <p14:creationId xmlns:p14="http://schemas.microsoft.com/office/powerpoint/2010/main" val="1216340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040AC-5CA5-AB12-096D-CD02C35432FB}"/>
              </a:ext>
            </a:extLst>
          </p:cNvPr>
          <p:cNvSpPr>
            <a:spLocks noGrp="1"/>
          </p:cNvSpPr>
          <p:nvPr>
            <p:ph type="title"/>
          </p:nvPr>
        </p:nvSpPr>
        <p:spPr/>
        <p:txBody>
          <a:bodyPr/>
          <a:lstStyle/>
          <a:p>
            <a:r>
              <a:rPr lang="en-GB" dirty="0"/>
              <a:t>Editing Citation Records (API)</a:t>
            </a:r>
          </a:p>
        </p:txBody>
      </p:sp>
      <p:sp>
        <p:nvSpPr>
          <p:cNvPr id="3" name="Content Placeholder 2">
            <a:extLst>
              <a:ext uri="{FF2B5EF4-FFF2-40B4-BE49-F238E27FC236}">
                <a16:creationId xmlns:a16="http://schemas.microsoft.com/office/drawing/2014/main" id="{3B9DA85D-4625-3A29-D1AE-52D638ACF9F2}"/>
              </a:ext>
            </a:extLst>
          </p:cNvPr>
          <p:cNvSpPr>
            <a:spLocks noGrp="1"/>
          </p:cNvSpPr>
          <p:nvPr>
            <p:ph idx="1"/>
          </p:nvPr>
        </p:nvSpPr>
        <p:spPr/>
        <p:txBody>
          <a:bodyPr/>
          <a:lstStyle/>
          <a:p>
            <a:r>
              <a:rPr lang="en-GB" dirty="0"/>
              <a:t>You must request an API project token to use the API services to upload content to the citation service. Contact the CEDA Helpdesk to arrange this.</a:t>
            </a:r>
          </a:p>
          <a:p>
            <a:r>
              <a:rPr lang="en-GB" dirty="0"/>
              <a:t>The python code snippet below is an example of how to upload content to the citation service to create/update records:</a:t>
            </a:r>
          </a:p>
        </p:txBody>
      </p:sp>
      <p:pic>
        <p:nvPicPr>
          <p:cNvPr id="6" name="Picture 5">
            <a:extLst>
              <a:ext uri="{FF2B5EF4-FFF2-40B4-BE49-F238E27FC236}">
                <a16:creationId xmlns:a16="http://schemas.microsoft.com/office/drawing/2014/main" id="{2B0B3835-1C2C-AF9D-B073-98901C61C1FB}"/>
              </a:ext>
            </a:extLst>
          </p:cNvPr>
          <p:cNvPicPr>
            <a:picLocks noChangeAspect="1"/>
          </p:cNvPicPr>
          <p:nvPr/>
        </p:nvPicPr>
        <p:blipFill>
          <a:blip r:embed="rId2"/>
          <a:stretch>
            <a:fillRect/>
          </a:stretch>
        </p:blipFill>
        <p:spPr>
          <a:xfrm>
            <a:off x="445992" y="4658286"/>
            <a:ext cx="5307025" cy="1518677"/>
          </a:xfrm>
          <a:prstGeom prst="rect">
            <a:avLst/>
          </a:prstGeom>
        </p:spPr>
      </p:pic>
      <p:sp>
        <p:nvSpPr>
          <p:cNvPr id="7" name="TextBox 6">
            <a:extLst>
              <a:ext uri="{FF2B5EF4-FFF2-40B4-BE49-F238E27FC236}">
                <a16:creationId xmlns:a16="http://schemas.microsoft.com/office/drawing/2014/main" id="{C3EAF32D-2D59-8D54-C805-D150660F7864}"/>
              </a:ext>
            </a:extLst>
          </p:cNvPr>
          <p:cNvSpPr txBox="1"/>
          <p:nvPr/>
        </p:nvSpPr>
        <p:spPr>
          <a:xfrm>
            <a:off x="2229592" y="4288954"/>
            <a:ext cx="1727268" cy="369332"/>
          </a:xfrm>
          <a:prstGeom prst="rect">
            <a:avLst/>
          </a:prstGeom>
          <a:noFill/>
        </p:spPr>
        <p:txBody>
          <a:bodyPr wrap="none" rtlCol="0">
            <a:spAutoFit/>
          </a:bodyPr>
          <a:lstStyle/>
          <a:p>
            <a:r>
              <a:rPr lang="en-GB" i="1" dirty="0"/>
              <a:t>Create Records</a:t>
            </a:r>
          </a:p>
        </p:txBody>
      </p:sp>
      <p:pic>
        <p:nvPicPr>
          <p:cNvPr id="9" name="Picture 8">
            <a:extLst>
              <a:ext uri="{FF2B5EF4-FFF2-40B4-BE49-F238E27FC236}">
                <a16:creationId xmlns:a16="http://schemas.microsoft.com/office/drawing/2014/main" id="{7FA1FCA5-BC61-2CB3-D004-E73C1C79BF93}"/>
              </a:ext>
            </a:extLst>
          </p:cNvPr>
          <p:cNvPicPr>
            <a:picLocks noChangeAspect="1"/>
          </p:cNvPicPr>
          <p:nvPr/>
        </p:nvPicPr>
        <p:blipFill>
          <a:blip r:embed="rId3"/>
          <a:stretch>
            <a:fillRect/>
          </a:stretch>
        </p:blipFill>
        <p:spPr>
          <a:xfrm>
            <a:off x="5950184" y="4617095"/>
            <a:ext cx="6068057" cy="1559868"/>
          </a:xfrm>
          <a:prstGeom prst="rect">
            <a:avLst/>
          </a:prstGeom>
        </p:spPr>
      </p:pic>
      <p:sp>
        <p:nvSpPr>
          <p:cNvPr id="10" name="TextBox 9">
            <a:extLst>
              <a:ext uri="{FF2B5EF4-FFF2-40B4-BE49-F238E27FC236}">
                <a16:creationId xmlns:a16="http://schemas.microsoft.com/office/drawing/2014/main" id="{A95187CF-EE1E-ADDE-2893-56E5BBB45503}"/>
              </a:ext>
            </a:extLst>
          </p:cNvPr>
          <p:cNvSpPr txBox="1"/>
          <p:nvPr/>
        </p:nvSpPr>
        <p:spPr>
          <a:xfrm>
            <a:off x="8120578" y="4180295"/>
            <a:ext cx="1787925" cy="369332"/>
          </a:xfrm>
          <a:prstGeom prst="rect">
            <a:avLst/>
          </a:prstGeom>
          <a:noFill/>
        </p:spPr>
        <p:txBody>
          <a:bodyPr wrap="none" rtlCol="0">
            <a:spAutoFit/>
          </a:bodyPr>
          <a:lstStyle/>
          <a:p>
            <a:r>
              <a:rPr lang="en-GB" i="1" dirty="0"/>
              <a:t>Update Records</a:t>
            </a:r>
          </a:p>
        </p:txBody>
      </p:sp>
    </p:spTree>
    <p:extLst>
      <p:ext uri="{BB962C8B-B14F-4D97-AF65-F5344CB8AC3E}">
        <p14:creationId xmlns:p14="http://schemas.microsoft.com/office/powerpoint/2010/main" val="3010974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E0D9C-6184-9448-3108-03B3533F91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43B6B0-E8D7-BB7B-3E42-90384DF51D8B}"/>
              </a:ext>
            </a:extLst>
          </p:cNvPr>
          <p:cNvSpPr>
            <a:spLocks noGrp="1"/>
          </p:cNvSpPr>
          <p:nvPr>
            <p:ph type="title"/>
          </p:nvPr>
        </p:nvSpPr>
        <p:spPr/>
        <p:txBody>
          <a:bodyPr/>
          <a:lstStyle/>
          <a:p>
            <a:r>
              <a:rPr lang="en-GB" dirty="0"/>
              <a:t>Editing Citation Records (API)</a:t>
            </a:r>
          </a:p>
        </p:txBody>
      </p:sp>
      <p:sp>
        <p:nvSpPr>
          <p:cNvPr id="3" name="Content Placeholder 2">
            <a:extLst>
              <a:ext uri="{FF2B5EF4-FFF2-40B4-BE49-F238E27FC236}">
                <a16:creationId xmlns:a16="http://schemas.microsoft.com/office/drawing/2014/main" id="{09FC9F80-FE83-EB70-2BD2-580EB5274AD4}"/>
              </a:ext>
            </a:extLst>
          </p:cNvPr>
          <p:cNvSpPr>
            <a:spLocks noGrp="1"/>
          </p:cNvSpPr>
          <p:nvPr>
            <p:ph idx="1"/>
          </p:nvPr>
        </p:nvSpPr>
        <p:spPr/>
        <p:txBody>
          <a:bodyPr/>
          <a:lstStyle/>
          <a:p>
            <a:pPr marL="0" indent="0">
              <a:buNone/>
            </a:pPr>
            <a:r>
              <a:rPr lang="en-GB" dirty="0"/>
              <a:t>Note: Ensure that you know if the record exists or not when creating a record. If a record with a matching title already exists, creation will increment the version number and add a new version.</a:t>
            </a:r>
          </a:p>
          <a:p>
            <a:pPr marL="0" indent="0">
              <a:buNone/>
            </a:pPr>
            <a:endParaRPr lang="en-GB" dirty="0"/>
          </a:p>
          <a:p>
            <a:pPr marL="0" indent="0">
              <a:buNone/>
            </a:pPr>
            <a:r>
              <a:rPr lang="en-GB" dirty="0"/>
              <a:t>If you accidentally add a new version, please delete the specific version required, by specifying the ID as below:</a:t>
            </a:r>
          </a:p>
        </p:txBody>
      </p:sp>
      <p:pic>
        <p:nvPicPr>
          <p:cNvPr id="5" name="Picture 4">
            <a:extLst>
              <a:ext uri="{FF2B5EF4-FFF2-40B4-BE49-F238E27FC236}">
                <a16:creationId xmlns:a16="http://schemas.microsoft.com/office/drawing/2014/main" id="{D9EB8E2F-E491-C357-95E3-BC72E4298971}"/>
              </a:ext>
            </a:extLst>
          </p:cNvPr>
          <p:cNvPicPr>
            <a:picLocks noChangeAspect="1"/>
          </p:cNvPicPr>
          <p:nvPr/>
        </p:nvPicPr>
        <p:blipFill>
          <a:blip r:embed="rId2"/>
          <a:stretch>
            <a:fillRect/>
          </a:stretch>
        </p:blipFill>
        <p:spPr>
          <a:xfrm>
            <a:off x="1227043" y="4744887"/>
            <a:ext cx="9284552" cy="1567013"/>
          </a:xfrm>
          <a:prstGeom prst="rect">
            <a:avLst/>
          </a:prstGeom>
        </p:spPr>
      </p:pic>
    </p:spTree>
    <p:extLst>
      <p:ext uri="{BB962C8B-B14F-4D97-AF65-F5344CB8AC3E}">
        <p14:creationId xmlns:p14="http://schemas.microsoft.com/office/powerpoint/2010/main" val="766721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C2CE-2094-97A0-E4CC-1340AAE4A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BC485-AA40-2C31-0F80-0C584E1E7184}"/>
              </a:ext>
            </a:extLst>
          </p:cNvPr>
          <p:cNvSpPr>
            <a:spLocks noGrp="1"/>
          </p:cNvSpPr>
          <p:nvPr>
            <p:ph type="title"/>
          </p:nvPr>
        </p:nvSpPr>
        <p:spPr/>
        <p:txBody>
          <a:bodyPr/>
          <a:lstStyle/>
          <a:p>
            <a:r>
              <a:rPr lang="en-GB" dirty="0"/>
              <a:t>Minting DOIs (API)</a:t>
            </a:r>
          </a:p>
        </p:txBody>
      </p:sp>
      <p:sp>
        <p:nvSpPr>
          <p:cNvPr id="3" name="Content Placeholder 2">
            <a:extLst>
              <a:ext uri="{FF2B5EF4-FFF2-40B4-BE49-F238E27FC236}">
                <a16:creationId xmlns:a16="http://schemas.microsoft.com/office/drawing/2014/main" id="{2804DF23-3491-3DB4-D704-3ABFA0FD1AA1}"/>
              </a:ext>
            </a:extLst>
          </p:cNvPr>
          <p:cNvSpPr>
            <a:spLocks noGrp="1"/>
          </p:cNvSpPr>
          <p:nvPr>
            <p:ph idx="1"/>
          </p:nvPr>
        </p:nvSpPr>
        <p:spPr/>
        <p:txBody>
          <a:bodyPr/>
          <a:lstStyle/>
          <a:p>
            <a:pPr marL="0" indent="0">
              <a:buNone/>
            </a:pPr>
            <a:r>
              <a:rPr lang="en-GB" dirty="0"/>
              <a:t>To mint a DOI on creating/updating a record via the API, simply add the field `</a:t>
            </a:r>
            <a:r>
              <a:rPr lang="en-GB" dirty="0" err="1"/>
              <a:t>publish_on_save</a:t>
            </a:r>
            <a:r>
              <a:rPr lang="en-GB" dirty="0"/>
              <a:t>: True` to your JSON content to be uploaded. Review the </a:t>
            </a:r>
            <a:r>
              <a:rPr lang="en-GB" dirty="0" err="1"/>
              <a:t>response.content</a:t>
            </a:r>
            <a:r>
              <a:rPr lang="en-GB" dirty="0"/>
              <a:t> object to verify if DOI minting was successful – specifically check for any `warnings` in the response JSON.</a:t>
            </a:r>
          </a:p>
          <a:p>
            <a:pPr marL="0" indent="0">
              <a:buNone/>
            </a:pPr>
            <a:endParaRPr lang="en-GB" dirty="0"/>
          </a:p>
          <a:p>
            <a:pPr marL="0" indent="0">
              <a:buNone/>
            </a:pPr>
            <a:r>
              <a:rPr lang="en-GB" dirty="0"/>
              <a:t>If a problem occurs please contact </a:t>
            </a:r>
            <a:r>
              <a:rPr lang="en-GB" dirty="0" err="1"/>
              <a:t>support@ceda.ac.uk</a:t>
            </a:r>
            <a:endParaRPr lang="en-GB" dirty="0"/>
          </a:p>
        </p:txBody>
      </p:sp>
      <p:pic>
        <p:nvPicPr>
          <p:cNvPr id="5" name="Picture 4">
            <a:extLst>
              <a:ext uri="{FF2B5EF4-FFF2-40B4-BE49-F238E27FC236}">
                <a16:creationId xmlns:a16="http://schemas.microsoft.com/office/drawing/2014/main" id="{02692E62-E916-4B6A-B16F-3E5E89E27AFF}"/>
              </a:ext>
            </a:extLst>
          </p:cNvPr>
          <p:cNvPicPr>
            <a:picLocks noChangeAspect="1"/>
          </p:cNvPicPr>
          <p:nvPr/>
        </p:nvPicPr>
        <p:blipFill>
          <a:blip r:embed="rId2"/>
          <a:stretch>
            <a:fillRect/>
          </a:stretch>
        </p:blipFill>
        <p:spPr>
          <a:xfrm>
            <a:off x="1240490" y="5011774"/>
            <a:ext cx="9284552" cy="1567013"/>
          </a:xfrm>
          <a:prstGeom prst="rect">
            <a:avLst/>
          </a:prstGeom>
        </p:spPr>
      </p:pic>
    </p:spTree>
    <p:extLst>
      <p:ext uri="{BB962C8B-B14F-4D97-AF65-F5344CB8AC3E}">
        <p14:creationId xmlns:p14="http://schemas.microsoft.com/office/powerpoint/2010/main" val="14242653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1451</Words>
  <Application>Microsoft Macintosh PowerPoint</Application>
  <PresentationFormat>Widescreen</PresentationFormat>
  <Paragraphs>109</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CMIP7 Citation Service</vt:lpstr>
      <vt:lpstr>Contents</vt:lpstr>
      <vt:lpstr>Requesting Reviewer Access</vt:lpstr>
      <vt:lpstr>Requesting Reviewer Access</vt:lpstr>
      <vt:lpstr>Requesting Reviewer Access</vt:lpstr>
      <vt:lpstr>Editing Citation Records (UI)</vt:lpstr>
      <vt:lpstr>Editing Citation Records (UI)</vt:lpstr>
      <vt:lpstr>Editing Citation Records (UI)</vt:lpstr>
      <vt:lpstr>Editing Citation Records (UI)</vt:lpstr>
      <vt:lpstr>Editing Citation Records (UI)</vt:lpstr>
      <vt:lpstr>Editing Citation Records (UI) – Clashing Information</vt:lpstr>
      <vt:lpstr>Editing Citation Records (UI) – Clashing Information</vt:lpstr>
      <vt:lpstr>Editing Citation Records (UI) – Clashing Information</vt:lpstr>
      <vt:lpstr>Editing Citation Records (UI) – Clashing Information</vt:lpstr>
      <vt:lpstr>Editing Citation Records (UI)</vt:lpstr>
      <vt:lpstr>Editing Citation Records (UI)</vt:lpstr>
      <vt:lpstr>Editing Citation Records (UI)</vt:lpstr>
      <vt:lpstr>Editing Citation Records (UI)</vt:lpstr>
      <vt:lpstr>Minting DOIs (UI)</vt:lpstr>
      <vt:lpstr>Minting DOIs (UI)</vt:lpstr>
      <vt:lpstr>Editing Citation Records (API)</vt:lpstr>
      <vt:lpstr>Editing Citation Records (API)</vt:lpstr>
      <vt:lpstr>Editing Citation Records (API)</vt:lpstr>
      <vt:lpstr>Minting DOIs (API)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Westwood, Daniel (STFC,RAL,RALSP)</dc:creator>
  <cp:lastModifiedBy>Westwood, Daniel (STFC,RAL,RALSP)</cp:lastModifiedBy>
  <cp:revision>8</cp:revision>
  <cp:lastPrinted>2026-08-17T14:11:02Z</cp:lastPrinted>
  <dcterms:created xsi:type="dcterms:W3CDTF">2026-04-29T13:07:01Z</dcterms:created>
  <dcterms:modified xsi:type="dcterms:W3CDTF">2026-09-17T08:39:48Z</dcterms:modified>
</cp:coreProperties>
</file>