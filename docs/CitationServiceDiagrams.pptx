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0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3A13-73CA-A35C-590F-565FA20BA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6C0DE-9D4F-ED26-77F2-2564A9AE0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1AB4-4B66-7394-328F-A2B3798A1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0A54-45AC-6613-DE90-067B2577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C91FA-9D99-4D65-5873-10042398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54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6003-B934-696C-D0C1-8920798B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385A8-B275-A9AE-BA1B-E24F07F02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8727-CF66-159B-F773-D0A3FA91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4EBF-1000-BEAE-A268-6212A6DC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6282-471D-432A-A8CF-A00D823B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90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71B7-905C-6C95-AE14-197F7D15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10406-ED77-84E7-BFF1-780FEABCA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C8862-3E6B-C9C0-9519-A41F5169C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B4FC-717B-83F3-D0C5-260DBB88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DCDA4-87FC-84E5-971A-366B6E50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69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6A3D-814D-C1C3-2F57-A3006F76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A192-D527-0F7F-06DC-95C6CBB4D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3BF72-E70E-E960-5DDB-F55604CCD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3AB75-2897-B2B0-96F6-3DC48852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715B6-6D29-4862-FCB9-C8630F2F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BBD8F-A78B-225C-F891-B6891502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46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4EE0-D841-CD61-5AE3-AAAF37C2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BD7C0-302C-446E-AE12-7D0397E51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53D63-6841-2C9D-FE4D-B7C360673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3A749-E927-11C8-90CC-C86768C7F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672CE-8150-4445-4E79-64562A6EE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C2794-0A1C-738E-B612-E2252AE4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56D7B-56C4-2884-E2FE-2EF91FCC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F45F8-4986-63B0-7A3D-E56EC390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85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E420-9D9A-4D3E-C248-002D5DE3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9D367-26E7-92D5-1D38-8A1F707A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B0A7C-8838-F67B-F04A-FD8B1B6F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9B64C-490C-4322-ECA4-687FD3E9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39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F15DC-5D72-0122-8E96-7FCF6056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9D8A8-FE48-2104-A450-1EC739F6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88173-5F35-3609-7AB2-682D1866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4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D738-EE6E-1D47-18E5-0FB2FF64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FAAC3-89AE-AE30-B39F-2039E372E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7C82-1AB3-3EA6-4FB6-B1C50DD6E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93567-DC8F-8B35-2924-6B85687B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8F24F-32AB-0BE0-956F-B20D158C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76EC4-E5E9-116C-0F74-5C8CBB45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69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58BA-2F4C-B497-DCE0-D6A99DC1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47EB8-F952-040C-C32B-C9587465F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A36B9-7D9B-FEED-1E89-550F7DD6F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5E9A7-CDC7-197F-9B15-996DAA91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FCE1F-4E36-D83C-C597-088930E9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6E574-0F45-29AA-6252-19BD4D9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2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CA1F-DB53-8930-20D1-F7DB2BE6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64237-BC3D-41BF-9DF3-3DD347B61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78C22-F5DF-ADE1-BCB1-31576DCB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BB80C-C71C-5EAE-1C2A-AE7F6FF5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1CEE7-E356-278B-6E68-004AA4D8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8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2EB44-1172-06FD-98DA-F99E677A3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7B170-5999-A9E7-5227-1C48C180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AB491-B09A-CFBE-A94F-9B951120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8A73-6CC6-60F3-684C-92D10596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C5C-64CE-7F65-D788-FA1CA8A7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02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71B1-86E8-F1C2-1ACE-A8CCAAFB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D3FC3-2AA4-630C-B105-8AC2FE1D2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C7AB-2538-5604-14DA-8EECBFBC1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03FFF-8F9B-6141-9094-6197B5FE63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A7711-F7A7-0290-22C6-5A3A22296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366B5-05E2-6BF3-9A84-25DCF7F07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25CA4-1F5D-1A41-BBD2-48D64ACDF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28F8-686A-F14A-87E3-0B248CC8F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Citation Service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C59C-84C9-239F-28B8-BA57BCD2E4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9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A293-D885-429A-56FB-15A2C18F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Citation Service Nodes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2A31E-A9FC-36DA-7E04-0779E1D6DCE7}"/>
              </a:ext>
            </a:extLst>
          </p:cNvPr>
          <p:cNvSpPr/>
          <p:nvPr/>
        </p:nvSpPr>
        <p:spPr>
          <a:xfrm>
            <a:off x="5689602" y="2641601"/>
            <a:ext cx="914400" cy="914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East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(CEDA)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A0D3A-54C3-B936-CFE9-08A63A06389A}"/>
              </a:ext>
            </a:extLst>
          </p:cNvPr>
          <p:cNvSpPr/>
          <p:nvPr/>
        </p:nvSpPr>
        <p:spPr>
          <a:xfrm>
            <a:off x="1439334" y="2641601"/>
            <a:ext cx="914400" cy="914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West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(ORNL)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9BE1C0BB-1210-5914-6263-1B7C4729DDC1}"/>
              </a:ext>
            </a:extLst>
          </p:cNvPr>
          <p:cNvSpPr/>
          <p:nvPr/>
        </p:nvSpPr>
        <p:spPr>
          <a:xfrm>
            <a:off x="5088468" y="4363156"/>
            <a:ext cx="2116667" cy="686456"/>
          </a:xfrm>
          <a:prstGeom prst="can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Primary Database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99E3BBE0-1296-7765-DEBF-0DBB99AB633F}"/>
              </a:ext>
            </a:extLst>
          </p:cNvPr>
          <p:cNvSpPr/>
          <p:nvPr/>
        </p:nvSpPr>
        <p:spPr>
          <a:xfrm>
            <a:off x="838200" y="4366633"/>
            <a:ext cx="2116667" cy="769811"/>
          </a:xfrm>
          <a:prstGeom prst="can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Read-Replica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10C643-B67F-7805-49F8-A64772EE33B7}"/>
              </a:ext>
            </a:extLst>
          </p:cNvPr>
          <p:cNvCxnSpPr/>
          <p:nvPr/>
        </p:nvCxnSpPr>
        <p:spPr>
          <a:xfrm flipH="1">
            <a:off x="3059290" y="4696178"/>
            <a:ext cx="1930400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966A1E-0D03-3D8A-A8DA-85874C7DD5D3}"/>
              </a:ext>
            </a:extLst>
          </p:cNvPr>
          <p:cNvSpPr txBox="1"/>
          <p:nvPr/>
        </p:nvSpPr>
        <p:spPr>
          <a:xfrm>
            <a:off x="3211690" y="4796694"/>
            <a:ext cx="162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Updates to primary reflected in replica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E159CE-235B-8A75-B90B-A0E6EBD6EACF}"/>
              </a:ext>
            </a:extLst>
          </p:cNvPr>
          <p:cNvCxnSpPr/>
          <p:nvPr/>
        </p:nvCxnSpPr>
        <p:spPr>
          <a:xfrm>
            <a:off x="6050847" y="3603979"/>
            <a:ext cx="0" cy="70555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FD7747-3DC5-6737-1888-A7E4DDDA7C93}"/>
              </a:ext>
            </a:extLst>
          </p:cNvPr>
          <p:cNvCxnSpPr>
            <a:cxnSpLocks/>
          </p:cNvCxnSpPr>
          <p:nvPr/>
        </p:nvCxnSpPr>
        <p:spPr>
          <a:xfrm flipV="1">
            <a:off x="6231468" y="3598336"/>
            <a:ext cx="5644" cy="71119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49D956-F69C-CC61-73A7-CC405841B9AA}"/>
              </a:ext>
            </a:extLst>
          </p:cNvPr>
          <p:cNvCxnSpPr/>
          <p:nvPr/>
        </p:nvCxnSpPr>
        <p:spPr>
          <a:xfrm flipV="1">
            <a:off x="1896533" y="3598336"/>
            <a:ext cx="0" cy="71119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A6D4D8-0043-1B87-B94F-B5640A2CB096}"/>
              </a:ext>
            </a:extLst>
          </p:cNvPr>
          <p:cNvSpPr txBox="1"/>
          <p:nvPr/>
        </p:nvSpPr>
        <p:spPr>
          <a:xfrm>
            <a:off x="1919112" y="3807428"/>
            <a:ext cx="162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Read from replica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CBCC8A-A1E6-EE69-60B9-99653F370410}"/>
              </a:ext>
            </a:extLst>
          </p:cNvPr>
          <p:cNvSpPr txBox="1"/>
          <p:nvPr/>
        </p:nvSpPr>
        <p:spPr>
          <a:xfrm>
            <a:off x="6392335" y="3692325"/>
            <a:ext cx="162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Read/Write to primary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81F230-F5B9-7AEF-F868-226AC7353663}"/>
              </a:ext>
            </a:extLst>
          </p:cNvPr>
          <p:cNvCxnSpPr/>
          <p:nvPr/>
        </p:nvCxnSpPr>
        <p:spPr>
          <a:xfrm>
            <a:off x="2506135" y="3098801"/>
            <a:ext cx="3036711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7E9D70-B2CB-D0A4-2653-D054881E6327}"/>
              </a:ext>
            </a:extLst>
          </p:cNvPr>
          <p:cNvSpPr txBox="1"/>
          <p:nvPr/>
        </p:nvSpPr>
        <p:spPr>
          <a:xfrm>
            <a:off x="2731912" y="2720644"/>
            <a:ext cx="2720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Write via Service 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BCB8E7-94DF-C6E1-4222-BACAF3E89A4F}"/>
              </a:ext>
            </a:extLst>
          </p:cNvPr>
          <p:cNvSpPr txBox="1"/>
          <p:nvPr/>
        </p:nvSpPr>
        <p:spPr>
          <a:xfrm>
            <a:off x="7879646" y="1197679"/>
            <a:ext cx="32850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Single node able to write, other node(s) write via primary node.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Service deployment interchangeable (CEDA service configurable as replica OR primary on deployment)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one node is shut down, other node(s) can be redeployed as primary, provided the primary database is still available – if not then spin up a new database using read-replica.</a:t>
            </a:r>
          </a:p>
        </p:txBody>
      </p:sp>
    </p:spTree>
    <p:extLst>
      <p:ext uri="{BB962C8B-B14F-4D97-AF65-F5344CB8AC3E}">
        <p14:creationId xmlns:p14="http://schemas.microsoft.com/office/powerpoint/2010/main" val="248529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103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Citation Service Diagrams</vt:lpstr>
      <vt:lpstr>Citation Service Nodes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Westwood, Daniel (STFC,RAL,RALSP)</dc:creator>
  <cp:lastModifiedBy>Westwood, Daniel (STFC,RAL,RALSP)</cp:lastModifiedBy>
  <cp:revision>2</cp:revision>
  <dcterms:created xsi:type="dcterms:W3CDTF">2026-02-19T08:40:40Z</dcterms:created>
  <dcterms:modified xsi:type="dcterms:W3CDTF">2026-02-19T08:49:07Z</dcterms:modified>
</cp:coreProperties>
</file>