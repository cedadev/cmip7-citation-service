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36"/>
    <p:restoredTop sz="94638"/>
  </p:normalViewPr>
  <p:slideViewPr>
    <p:cSldViewPr snapToGrid="0">
      <p:cViewPr varScale="1">
        <p:scale>
          <a:sx n="113" d="100"/>
          <a:sy n="113" d="100"/>
        </p:scale>
        <p:origin x="1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03A13-73CA-A35C-590F-565FA20BAD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6C0DE-9D4F-ED26-77F2-2564A9AE05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51AB4-4B66-7394-328F-A2B3798A1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90A54-45AC-6613-DE90-067B25778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C91FA-9D99-4D65-5873-100423989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254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6003-B934-696C-D0C1-8920798BC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385A8-B275-A9AE-BA1B-E24F07F02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28727-CF66-159B-F773-D0A3FA916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A4EBF-1000-BEAE-A268-6212A6DC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76282-471D-432A-A8CF-A00D823B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901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A71B7-905C-6C95-AE14-197F7D15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10406-ED77-84E7-BFF1-780FEABCAB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C8862-3E6B-C9C0-9519-A41F5169C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9B4FC-717B-83F3-D0C5-260DBB881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DCDA4-87FC-84E5-971A-366B6E504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90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A6A3D-814D-C1C3-2F57-A3006F76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A192-D527-0F7F-06DC-95C6CBB4D9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3BF72-E70E-E960-5DDB-F55604CCD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33AB75-2897-B2B0-96F6-3DC48852B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5715B6-6D29-4862-FCB9-C8630F2F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CBBD8F-A78B-225C-F891-B68915022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467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4EE0-D841-CD61-5AE3-AAAF37C2B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5BD7C0-302C-446E-AE12-7D0397E51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53D63-6841-2C9D-FE4D-B7C360673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3A749-E927-11C8-90CC-C86768C7F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1672CE-8150-4445-4E79-64562A6EE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C2794-0A1C-738E-B612-E2252AE4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E56D7B-56C4-2884-E2FE-2EF91FCC4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DF45F8-4986-63B0-7A3D-E56EC3905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853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6E420-9D9A-4D3E-C248-002D5DE3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9D367-26E7-92D5-1D38-8A1F707A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B0A7C-8838-F67B-F04A-FD8B1B6F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09B64C-490C-4322-ECA4-687FD3E93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39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AF15DC-5D72-0122-8E96-7FCF60568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9D8A8-FE48-2104-A450-1EC739F62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488173-5F35-3609-7AB2-682D18664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465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D738-EE6E-1D47-18E5-0FB2FF643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FAAC3-89AE-AE30-B39F-2039E372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D97C82-1AB3-3EA6-4FB6-B1C50DD6E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93567-DC8F-8B35-2924-6B85687B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8F24F-32AB-0BE0-956F-B20D158C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76EC4-E5E9-116C-0F74-5C8CBB454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2699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E58BA-2F4C-B497-DCE0-D6A99DC1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C47EB8-F952-040C-C32B-C9587465F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A36B9-7D9B-FEED-1E89-550F7DD6F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5E9A7-CDC7-197F-9B15-996DAA91B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FCE1F-4E36-D83C-C597-088930E9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6E574-0F45-29AA-6252-19BD4D924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120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CA1F-DB53-8930-20D1-F7DB2BE69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64237-BC3D-41BF-9DF3-3DD347B61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78C22-F5DF-ADE1-BCB1-31576DCBE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BB80C-C71C-5EAE-1C2A-AE7F6FF5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1CEE7-E356-278B-6E68-004AA4D8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3833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92EB44-1172-06FD-98DA-F99E677A3A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97B170-5999-A9E7-5227-1C48C18054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EAB491-B09A-CFBE-A94F-9B951120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88A73-6CC6-60F3-684C-92D10596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C5C-64CE-7F65-D788-FA1CA8A75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1027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71B1-86E8-F1C2-1ACE-A8CCAAFBA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CD3FC3-2AA4-630C-B105-8AC2FE1D2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3C7AB-2538-5604-14DA-8EECBFBC17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103FFF-8F9B-6141-9094-6197B5FE636F}" type="datetimeFigureOut">
              <a:rPr lang="en-GB" smtClean="0"/>
              <a:t>26/02/2026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A7711-F7A7-0290-22C6-5A3A22296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66B5-05E2-6BF3-9A84-25DCF7F07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28F8-686A-F14A-87E3-0B248CC8F4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Citation Service Diagrams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2EC59C-84C9-239F-28B8-BA57BCD2E4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946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A293-D885-429A-56FB-15A2C18F3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Citation Service Nodes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52A31E-A9FC-36DA-7E04-0779E1D6DCE7}"/>
              </a:ext>
            </a:extLst>
          </p:cNvPr>
          <p:cNvSpPr/>
          <p:nvPr/>
        </p:nvSpPr>
        <p:spPr>
          <a:xfrm>
            <a:off x="5686779" y="1690689"/>
            <a:ext cx="914400" cy="9144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East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(CEDA)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4A0D3A-54C3-B936-CFE9-08A63A06389A}"/>
              </a:ext>
            </a:extLst>
          </p:cNvPr>
          <p:cNvSpPr/>
          <p:nvPr/>
        </p:nvSpPr>
        <p:spPr>
          <a:xfrm>
            <a:off x="1439333" y="1690689"/>
            <a:ext cx="914400" cy="9144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West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(ORNL)</a:t>
            </a:r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BE1C0BB-1210-5914-6263-1B7C4729DDC1}"/>
              </a:ext>
            </a:extLst>
          </p:cNvPr>
          <p:cNvSpPr/>
          <p:nvPr/>
        </p:nvSpPr>
        <p:spPr>
          <a:xfrm>
            <a:off x="5088468" y="4363156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DB (API Write only)</a:t>
            </a:r>
          </a:p>
        </p:txBody>
      </p:sp>
      <p:sp>
        <p:nvSpPr>
          <p:cNvPr id="7" name="Can 6">
            <a:extLst>
              <a:ext uri="{FF2B5EF4-FFF2-40B4-BE49-F238E27FC236}">
                <a16:creationId xmlns:a16="http://schemas.microsoft.com/office/drawing/2014/main" id="{99E3BBE0-1296-7765-DEBF-0DBB99AB633F}"/>
              </a:ext>
            </a:extLst>
          </p:cNvPr>
          <p:cNvSpPr/>
          <p:nvPr/>
        </p:nvSpPr>
        <p:spPr>
          <a:xfrm>
            <a:off x="838200" y="4366633"/>
            <a:ext cx="2116667" cy="769811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DB (API Write only)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449D956-F69C-CC61-73A7-CC405841B9AA}"/>
              </a:ext>
            </a:extLst>
          </p:cNvPr>
          <p:cNvCxnSpPr>
            <a:cxnSpLocks/>
          </p:cNvCxnSpPr>
          <p:nvPr/>
        </p:nvCxnSpPr>
        <p:spPr>
          <a:xfrm flipV="1">
            <a:off x="1896533" y="2731911"/>
            <a:ext cx="0" cy="1577624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A6D4D8-0043-1B87-B94F-B5640A2CB096}"/>
              </a:ext>
            </a:extLst>
          </p:cNvPr>
          <p:cNvSpPr txBox="1"/>
          <p:nvPr/>
        </p:nvSpPr>
        <p:spPr>
          <a:xfrm>
            <a:off x="1896533" y="3362350"/>
            <a:ext cx="162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Read from </a:t>
            </a:r>
            <a:r>
              <a:rPr lang="en-GB" sz="1400" dirty="0" err="1"/>
              <a:t>db</a:t>
            </a:r>
            <a:endParaRPr lang="en-GB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581F230-F5B9-7AEF-F868-226AC7353663}"/>
              </a:ext>
            </a:extLst>
          </p:cNvPr>
          <p:cNvCxnSpPr>
            <a:cxnSpLocks/>
          </p:cNvCxnSpPr>
          <p:nvPr/>
        </p:nvCxnSpPr>
        <p:spPr>
          <a:xfrm>
            <a:off x="2472267" y="2147889"/>
            <a:ext cx="1259419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E7E9D70-B2CB-D0A4-2653-D054881E6327}"/>
              </a:ext>
            </a:extLst>
          </p:cNvPr>
          <p:cNvSpPr txBox="1"/>
          <p:nvPr/>
        </p:nvSpPr>
        <p:spPr>
          <a:xfrm>
            <a:off x="2580927" y="1615393"/>
            <a:ext cx="3036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Writes messages to Event Stream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6F9C71-3748-A460-DBF4-F0532FBB5164}"/>
              </a:ext>
            </a:extLst>
          </p:cNvPr>
          <p:cNvSpPr/>
          <p:nvPr/>
        </p:nvSpPr>
        <p:spPr>
          <a:xfrm>
            <a:off x="4108446" y="3805165"/>
            <a:ext cx="1005426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ysClr val="windowText" lastClr="000000"/>
                </a:solidFill>
              </a:rPr>
              <a:t>Event Listener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C265799-BB27-F5BB-748A-25F87B2B208E}"/>
              </a:ext>
            </a:extLst>
          </p:cNvPr>
          <p:cNvCxnSpPr>
            <a:cxnSpLocks/>
          </p:cNvCxnSpPr>
          <p:nvPr/>
        </p:nvCxnSpPr>
        <p:spPr>
          <a:xfrm flipH="1">
            <a:off x="4278490" y="2145245"/>
            <a:ext cx="1253066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BE49BC-C1F5-86AB-FB04-696AC96997A8}"/>
              </a:ext>
            </a:extLst>
          </p:cNvPr>
          <p:cNvSpPr txBox="1"/>
          <p:nvPr/>
        </p:nvSpPr>
        <p:spPr>
          <a:xfrm>
            <a:off x="3731686" y="2687183"/>
            <a:ext cx="16256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Stream B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537DA7-408A-DB4F-2325-88CF01DB96B8}"/>
              </a:ext>
            </a:extLst>
          </p:cNvPr>
          <p:cNvCxnSpPr>
            <a:cxnSpLocks/>
          </p:cNvCxnSpPr>
          <p:nvPr/>
        </p:nvCxnSpPr>
        <p:spPr>
          <a:xfrm flipV="1">
            <a:off x="6141154" y="2726016"/>
            <a:ext cx="0" cy="1577624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355D97-3304-B31A-E607-DA2FF4C350A0}"/>
              </a:ext>
            </a:extLst>
          </p:cNvPr>
          <p:cNvSpPr txBox="1"/>
          <p:nvPr/>
        </p:nvSpPr>
        <p:spPr>
          <a:xfrm>
            <a:off x="6141154" y="3356455"/>
            <a:ext cx="162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Read from </a:t>
            </a:r>
            <a:r>
              <a:rPr lang="en-GB" sz="1400" dirty="0" err="1"/>
              <a:t>db</a:t>
            </a:r>
            <a:endParaRPr lang="en-GB" sz="14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C6C3E5-1ADB-E87F-AE7A-17961B3771DF}"/>
              </a:ext>
            </a:extLst>
          </p:cNvPr>
          <p:cNvCxnSpPr>
            <a:cxnSpLocks/>
          </p:cNvCxnSpPr>
          <p:nvPr/>
        </p:nvCxnSpPr>
        <p:spPr>
          <a:xfrm>
            <a:off x="3995553" y="1923170"/>
            <a:ext cx="0" cy="188199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92E276B7-11BB-3A2E-D9C9-441028D3B0BA}"/>
              </a:ext>
            </a:extLst>
          </p:cNvPr>
          <p:cNvSpPr/>
          <p:nvPr/>
        </p:nvSpPr>
        <p:spPr>
          <a:xfrm>
            <a:off x="2865949" y="3805165"/>
            <a:ext cx="1005426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ysClr val="windowText" lastClr="000000"/>
                </a:solidFill>
              </a:rPr>
              <a:t>Event Listener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5A79A4B-3477-C407-547B-92DE4BC9372C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5113872" y="3989831"/>
            <a:ext cx="495994" cy="37332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26810FD-1A1F-1A5B-32E4-DB3363737FB8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2398877" y="3989831"/>
            <a:ext cx="467072" cy="38675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2B8EDE0-ADB0-BF28-E1C9-2E526ACDB7AE}"/>
              </a:ext>
            </a:extLst>
          </p:cNvPr>
          <p:cNvCxnSpPr>
            <a:cxnSpLocks/>
          </p:cNvCxnSpPr>
          <p:nvPr/>
        </p:nvCxnSpPr>
        <p:spPr>
          <a:xfrm flipH="1">
            <a:off x="6321778" y="498755"/>
            <a:ext cx="1444976" cy="111663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E9EFF90-A849-8FB5-A1EC-6AE73916BFDD}"/>
              </a:ext>
            </a:extLst>
          </p:cNvPr>
          <p:cNvSpPr txBox="1"/>
          <p:nvPr/>
        </p:nvSpPr>
        <p:spPr>
          <a:xfrm>
            <a:off x="7879646" y="305457"/>
            <a:ext cx="2768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API queries from Stream 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7CE90-D37F-6FA5-659C-8DE95ED363B9}"/>
              </a:ext>
            </a:extLst>
          </p:cNvPr>
          <p:cNvSpPr txBox="1"/>
          <p:nvPr/>
        </p:nvSpPr>
        <p:spPr>
          <a:xfrm>
            <a:off x="7690561" y="1670818"/>
            <a:ext cx="4130312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Standardise the messages to the event stream.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Specific topic for citation service updates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CREATE (serialised model)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UPDATE (serialised model)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DELETE (model ID)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Read directly from the database (Pseudo-read-only)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Await response from Kafka listener before proceeding.</a:t>
            </a:r>
          </a:p>
        </p:txBody>
      </p:sp>
    </p:spTree>
    <p:extLst>
      <p:ext uri="{BB962C8B-B14F-4D97-AF65-F5344CB8AC3E}">
        <p14:creationId xmlns:p14="http://schemas.microsoft.com/office/powerpoint/2010/main" val="2485295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FF5CB-574D-F7DA-37E7-A150C61EC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Interactions - East (CEDA)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2BBB06-8B0F-702E-89D7-550DFAA22825}"/>
              </a:ext>
            </a:extLst>
          </p:cNvPr>
          <p:cNvSpPr/>
          <p:nvPr/>
        </p:nvSpPr>
        <p:spPr>
          <a:xfrm>
            <a:off x="3897488" y="1819717"/>
            <a:ext cx="4397024" cy="3164051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Deployment (k8s)</a:t>
            </a: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4FA21C-A05F-4577-4B68-F8B43B772381}"/>
              </a:ext>
            </a:extLst>
          </p:cNvPr>
          <p:cNvSpPr/>
          <p:nvPr/>
        </p:nvSpPr>
        <p:spPr>
          <a:xfrm>
            <a:off x="4170893" y="3389289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Container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8FE9BA-68AF-EBF6-4922-DE2222AB8642}"/>
              </a:ext>
            </a:extLst>
          </p:cNvPr>
          <p:cNvSpPr/>
          <p:nvPr/>
        </p:nvSpPr>
        <p:spPr>
          <a:xfrm>
            <a:off x="4170892" y="4343643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ESL:A (Simple Parser)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9BAD49-B8A3-A82E-2033-48C2495CBD71}"/>
              </a:ext>
            </a:extLst>
          </p:cNvPr>
          <p:cNvCxnSpPr>
            <a:cxnSpLocks/>
          </p:cNvCxnSpPr>
          <p:nvPr/>
        </p:nvCxnSpPr>
        <p:spPr>
          <a:xfrm flipV="1">
            <a:off x="6106935" y="3854298"/>
            <a:ext cx="0" cy="44568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5962A1-863D-B4E5-7892-0D361E3C86B5}"/>
              </a:ext>
            </a:extLst>
          </p:cNvPr>
          <p:cNvCxnSpPr>
            <a:cxnSpLocks/>
          </p:cNvCxnSpPr>
          <p:nvPr/>
        </p:nvCxnSpPr>
        <p:spPr>
          <a:xfrm flipV="1">
            <a:off x="6095998" y="5038283"/>
            <a:ext cx="0" cy="102385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247A156-BDA1-749F-45C3-C359D1678DEB}"/>
              </a:ext>
            </a:extLst>
          </p:cNvPr>
          <p:cNvSpPr txBox="1"/>
          <p:nvPr/>
        </p:nvSpPr>
        <p:spPr>
          <a:xfrm>
            <a:off x="6237381" y="5179531"/>
            <a:ext cx="3578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ESGF Publisher (CEDA)</a:t>
            </a:r>
          </a:p>
          <a:p>
            <a:r>
              <a:rPr lang="en-GB" dirty="0"/>
              <a:t>- Sends messages to event stream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59104A-49C5-D336-39D4-B3FA392BAADC}"/>
              </a:ext>
            </a:extLst>
          </p:cNvPr>
          <p:cNvCxnSpPr>
            <a:cxnSpLocks/>
          </p:cNvCxnSpPr>
          <p:nvPr/>
        </p:nvCxnSpPr>
        <p:spPr>
          <a:xfrm flipH="1">
            <a:off x="8031690" y="2496098"/>
            <a:ext cx="745067" cy="82761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A8B1692-9539-9338-4FC7-D951E6565517}"/>
              </a:ext>
            </a:extLst>
          </p:cNvPr>
          <p:cNvSpPr txBox="1"/>
          <p:nvPr/>
        </p:nvSpPr>
        <p:spPr>
          <a:xfrm>
            <a:off x="8776757" y="1690688"/>
            <a:ext cx="15315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CVs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EMD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ORCID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ROR API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14C0388-BEA6-5D37-A14E-66C94640086D}"/>
              </a:ext>
            </a:extLst>
          </p:cNvPr>
          <p:cNvCxnSpPr>
            <a:cxnSpLocks/>
          </p:cNvCxnSpPr>
          <p:nvPr/>
        </p:nvCxnSpPr>
        <p:spPr>
          <a:xfrm>
            <a:off x="8184351" y="3757243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7DA81A4-9F55-BFC3-0178-E878F1E68C62}"/>
              </a:ext>
            </a:extLst>
          </p:cNvPr>
          <p:cNvCxnSpPr>
            <a:cxnSpLocks/>
          </p:cNvCxnSpPr>
          <p:nvPr/>
        </p:nvCxnSpPr>
        <p:spPr>
          <a:xfrm flipV="1">
            <a:off x="8165748" y="2687525"/>
            <a:ext cx="611009" cy="69662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5C8D5C8-C263-C3F7-F23F-3662D078EB3E}"/>
              </a:ext>
            </a:extLst>
          </p:cNvPr>
          <p:cNvCxnSpPr>
            <a:cxnSpLocks/>
          </p:cNvCxnSpPr>
          <p:nvPr/>
        </p:nvCxnSpPr>
        <p:spPr>
          <a:xfrm flipH="1">
            <a:off x="8165748" y="3586404"/>
            <a:ext cx="723901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D443036-AAF1-D13F-06C6-69943E76B9E2}"/>
              </a:ext>
            </a:extLst>
          </p:cNvPr>
          <p:cNvSpPr txBox="1"/>
          <p:nvPr/>
        </p:nvSpPr>
        <p:spPr>
          <a:xfrm>
            <a:off x="9023705" y="3484966"/>
            <a:ext cx="1752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DataCite</a:t>
            </a:r>
            <a:r>
              <a:rPr lang="en-GB" dirty="0"/>
              <a:t> (DOIs)</a:t>
            </a:r>
          </a:p>
        </p:txBody>
      </p:sp>
      <p:sp>
        <p:nvSpPr>
          <p:cNvPr id="42" name="Can 41">
            <a:extLst>
              <a:ext uri="{FF2B5EF4-FFF2-40B4-BE49-F238E27FC236}">
                <a16:creationId xmlns:a16="http://schemas.microsoft.com/office/drawing/2014/main" id="{C4FE4150-B29B-8AA0-A352-F93210749FDA}"/>
              </a:ext>
            </a:extLst>
          </p:cNvPr>
          <p:cNvSpPr/>
          <p:nvPr/>
        </p:nvSpPr>
        <p:spPr>
          <a:xfrm>
            <a:off x="1190624" y="2288203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Database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AA502AF-F592-3621-2C93-9C076A1AC721}"/>
              </a:ext>
            </a:extLst>
          </p:cNvPr>
          <p:cNvCxnSpPr>
            <a:cxnSpLocks/>
          </p:cNvCxnSpPr>
          <p:nvPr/>
        </p:nvCxnSpPr>
        <p:spPr>
          <a:xfrm>
            <a:off x="3384745" y="2555374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8AE3B04-F9F3-6D47-9373-7FE5CDB4C97A}"/>
              </a:ext>
            </a:extLst>
          </p:cNvPr>
          <p:cNvSpPr txBox="1"/>
          <p:nvPr/>
        </p:nvSpPr>
        <p:spPr>
          <a:xfrm>
            <a:off x="613830" y="3318517"/>
            <a:ext cx="305928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Database hosted at CEDA or externally in the cloud?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Citation Service waits for confirmation on </a:t>
            </a:r>
            <a:r>
              <a:rPr lang="en-GB" sz="1400" b="1" dirty="0"/>
              <a:t>primary</a:t>
            </a:r>
            <a:r>
              <a:rPr lang="en-GB" sz="1400" dirty="0"/>
              <a:t> model constructions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Secondary</a:t>
            </a:r>
            <a:r>
              <a:rPr lang="en-GB" sz="1400" dirty="0"/>
              <a:t> model constructions – ones created </a:t>
            </a:r>
            <a:r>
              <a:rPr lang="en-GB" sz="1400" i="1" dirty="0"/>
              <a:t>as a result </a:t>
            </a:r>
            <a:r>
              <a:rPr lang="en-GB" sz="1400" dirty="0"/>
              <a:t>of a primary construction – are not waited upon.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7CFDC12-E59E-31AF-B120-6A11A0F656CF}"/>
              </a:ext>
            </a:extLst>
          </p:cNvPr>
          <p:cNvSpPr/>
          <p:nvPr/>
        </p:nvSpPr>
        <p:spPr>
          <a:xfrm>
            <a:off x="4176535" y="2436233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ESL:B (DB Read/Write)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E3BC3A-1330-A779-ABF4-07C27F0650C6}"/>
              </a:ext>
            </a:extLst>
          </p:cNvPr>
          <p:cNvCxnSpPr>
            <a:cxnSpLocks/>
          </p:cNvCxnSpPr>
          <p:nvPr/>
        </p:nvCxnSpPr>
        <p:spPr>
          <a:xfrm flipV="1">
            <a:off x="6095998" y="2873090"/>
            <a:ext cx="0" cy="43422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35F932-A21F-CFE7-E4CE-C531B242583F}"/>
              </a:ext>
            </a:extLst>
          </p:cNvPr>
          <p:cNvCxnSpPr>
            <a:cxnSpLocks/>
          </p:cNvCxnSpPr>
          <p:nvPr/>
        </p:nvCxnSpPr>
        <p:spPr>
          <a:xfrm flipH="1">
            <a:off x="3384745" y="2694488"/>
            <a:ext cx="654360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5568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C415E-A951-5DD7-E05A-FDA3445E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Database Write Loop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6C476-8E1F-E3AC-ABBE-7B95CAC4B7CA}"/>
              </a:ext>
            </a:extLst>
          </p:cNvPr>
          <p:cNvSpPr/>
          <p:nvPr/>
        </p:nvSpPr>
        <p:spPr>
          <a:xfrm>
            <a:off x="4302477" y="3008047"/>
            <a:ext cx="4397024" cy="2102379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Deployment (k8s)</a:t>
            </a: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DE4D0F-55C8-3C12-E657-3D58F8DA96D2}"/>
              </a:ext>
            </a:extLst>
          </p:cNvPr>
          <p:cNvSpPr/>
          <p:nvPr/>
        </p:nvSpPr>
        <p:spPr>
          <a:xfrm>
            <a:off x="4570589" y="3568170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Container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3BA9C9E-62A3-7F44-C521-E8C030455E76}"/>
              </a:ext>
            </a:extLst>
          </p:cNvPr>
          <p:cNvSpPr/>
          <p:nvPr/>
        </p:nvSpPr>
        <p:spPr>
          <a:xfrm>
            <a:off x="4570588" y="4270136"/>
            <a:ext cx="3860799" cy="646619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Event Stream Listener A</a:t>
            </a:r>
          </a:p>
          <a:p>
            <a:pPr algn="ctr"/>
            <a:r>
              <a:rPr lang="en-GB" i="1" dirty="0">
                <a:solidFill>
                  <a:sysClr val="windowText" lastClr="000000"/>
                </a:solidFill>
              </a:rPr>
              <a:t>(stream A: Public events)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85E1B-C719-CEE8-E438-61CFE3B56FA0}"/>
              </a:ext>
            </a:extLst>
          </p:cNvPr>
          <p:cNvCxnSpPr>
            <a:cxnSpLocks/>
          </p:cNvCxnSpPr>
          <p:nvPr/>
        </p:nvCxnSpPr>
        <p:spPr>
          <a:xfrm flipV="1">
            <a:off x="6506631" y="4033179"/>
            <a:ext cx="0" cy="166179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n 7">
            <a:extLst>
              <a:ext uri="{FF2B5EF4-FFF2-40B4-BE49-F238E27FC236}">
                <a16:creationId xmlns:a16="http://schemas.microsoft.com/office/drawing/2014/main" id="{7DCA5B80-FEB9-E281-EC39-AE5A1D1A0D5D}"/>
              </a:ext>
            </a:extLst>
          </p:cNvPr>
          <p:cNvSpPr/>
          <p:nvPr/>
        </p:nvSpPr>
        <p:spPr>
          <a:xfrm>
            <a:off x="1490130" y="3399107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Database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E20D0A-81D1-ACC2-3FB4-3139B44E60FB}"/>
              </a:ext>
            </a:extLst>
          </p:cNvPr>
          <p:cNvCxnSpPr>
            <a:cxnSpLocks/>
          </p:cNvCxnSpPr>
          <p:nvPr/>
        </p:nvCxnSpPr>
        <p:spPr>
          <a:xfrm>
            <a:off x="3759456" y="3848513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AF53EEE-CBAC-C9BB-5ABA-47117B070357}"/>
              </a:ext>
            </a:extLst>
          </p:cNvPr>
          <p:cNvSpPr txBox="1"/>
          <p:nvPr/>
        </p:nvSpPr>
        <p:spPr>
          <a:xfrm>
            <a:off x="815622" y="4199358"/>
            <a:ext cx="3059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Node-specific database (Doesn’t need to be a DB, can be node-specific implementation)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16F9FB-E7F9-866D-867C-75FBBA15DC95}"/>
              </a:ext>
            </a:extLst>
          </p:cNvPr>
          <p:cNvSpPr/>
          <p:nvPr/>
        </p:nvSpPr>
        <p:spPr>
          <a:xfrm>
            <a:off x="1829056" y="2003338"/>
            <a:ext cx="3860799" cy="609113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ESL:B – Citation Service (No Ingress)</a:t>
            </a:r>
          </a:p>
          <a:p>
            <a:pPr algn="ctr"/>
            <a:r>
              <a:rPr lang="en-GB" i="1" dirty="0">
                <a:solidFill>
                  <a:sysClr val="windowText" lastClr="000000"/>
                </a:solidFill>
              </a:rPr>
              <a:t>(stream B: Citation SVC only)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5405A3-10B4-63D4-13B3-D88937909C85}"/>
              </a:ext>
            </a:extLst>
          </p:cNvPr>
          <p:cNvCxnSpPr>
            <a:cxnSpLocks/>
          </p:cNvCxnSpPr>
          <p:nvPr/>
        </p:nvCxnSpPr>
        <p:spPr>
          <a:xfrm flipH="1" flipV="1">
            <a:off x="3825525" y="2695397"/>
            <a:ext cx="745063" cy="80719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371DC70-A46A-5AEC-8E81-991EFEA923F2}"/>
              </a:ext>
            </a:extLst>
          </p:cNvPr>
          <p:cNvCxnSpPr>
            <a:cxnSpLocks/>
          </p:cNvCxnSpPr>
          <p:nvPr/>
        </p:nvCxnSpPr>
        <p:spPr>
          <a:xfrm flipH="1">
            <a:off x="2774762" y="2732020"/>
            <a:ext cx="803815" cy="597199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A1A21B0-D61A-98AE-E1DB-93CD877865C9}"/>
              </a:ext>
            </a:extLst>
          </p:cNvPr>
          <p:cNvSpPr txBox="1"/>
          <p:nvPr/>
        </p:nvSpPr>
        <p:spPr>
          <a:xfrm>
            <a:off x="9008533" y="1106311"/>
            <a:ext cx="28882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Write events now send messages to Stream B, picked up by Event Listener B which actually writes to the database.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Event Listener A is for new citation entries, Event Listener B is for private database writes.</a:t>
            </a:r>
          </a:p>
        </p:txBody>
      </p:sp>
    </p:spTree>
    <p:extLst>
      <p:ext uri="{BB962C8B-B14F-4D97-AF65-F5344CB8AC3E}">
        <p14:creationId xmlns:p14="http://schemas.microsoft.com/office/powerpoint/2010/main" val="4026127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825C-D437-6119-3DF0-EB8E1C9A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Stream B Message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ECC73-A1DE-B4AC-D367-375BC9F19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34592"/>
          </a:xfrm>
        </p:spPr>
        <p:txBody>
          <a:bodyPr>
            <a:normAutofit/>
          </a:bodyPr>
          <a:lstStyle/>
          <a:p>
            <a:r>
              <a:rPr lang="en-GB" sz="2000" dirty="0"/>
              <a:t>Table: </a:t>
            </a:r>
            <a:r>
              <a:rPr lang="en-GB" sz="2000" dirty="0" err="1"/>
              <a:t>Table_Name</a:t>
            </a:r>
            <a:endParaRPr lang="en-GB" sz="2000" dirty="0"/>
          </a:p>
          <a:p>
            <a:r>
              <a:rPr lang="en-GB" sz="2000" dirty="0"/>
              <a:t>Create: {Validated Model Content}</a:t>
            </a:r>
          </a:p>
          <a:p>
            <a:r>
              <a:rPr lang="en-GB" sz="2000" dirty="0"/>
              <a:t>Delete: {Model PK} (Non-Cascading)</a:t>
            </a:r>
          </a:p>
          <a:p>
            <a:endParaRPr lang="en-GB" sz="2000" dirty="0"/>
          </a:p>
          <a:p>
            <a:r>
              <a:rPr lang="en-GB" sz="2000" dirty="0"/>
              <a:t>Rules applied to each model content field in-line with existing Django DB setup, to be agreed by Citation panel members</a:t>
            </a:r>
          </a:p>
        </p:txBody>
      </p:sp>
    </p:spTree>
    <p:extLst>
      <p:ext uri="{BB962C8B-B14F-4D97-AF65-F5344CB8AC3E}">
        <p14:creationId xmlns:p14="http://schemas.microsoft.com/office/powerpoint/2010/main" val="824007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334</Words>
  <Application>Microsoft Macintosh PowerPoint</Application>
  <PresentationFormat>Widescreen</PresentationFormat>
  <Paragraphs>69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Citation Service Diagrams</vt:lpstr>
      <vt:lpstr>Citation Service Nodes</vt:lpstr>
      <vt:lpstr>Interactions - East (CEDA)</vt:lpstr>
      <vt:lpstr>Database Write Loop</vt:lpstr>
      <vt:lpstr>Event Stream B Message Options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Westwood, Daniel (STFC,RAL,RALSP)</dc:creator>
  <cp:lastModifiedBy>Westwood, Daniel (STFC,RAL,RALSP)</cp:lastModifiedBy>
  <cp:revision>7</cp:revision>
  <dcterms:created xsi:type="dcterms:W3CDTF">2026-02-19T08:40:40Z</dcterms:created>
  <dcterms:modified xsi:type="dcterms:W3CDTF">2026-02-26T16:54:39Z</dcterms:modified>
</cp:coreProperties>
</file>