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8"/>
  </p:normalViewPr>
  <p:slideViewPr>
    <p:cSldViewPr snapToGrid="0">
      <p:cViewPr varScale="1">
        <p:scale>
          <a:sx n="113" d="100"/>
          <a:sy n="113" d="100"/>
        </p:scale>
        <p:origin x="7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03A13-73CA-A35C-590F-565FA20BAD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6C0DE-9D4F-ED26-77F2-2564A9AE05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A51AB4-4B66-7394-328F-A2B3798A1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690A54-45AC-6613-DE90-067B25778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C91FA-9D99-4D65-5873-100423989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2542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B6003-B934-696C-D0C1-8920798BC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7385A8-B275-A9AE-BA1B-E24F07F029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628727-CF66-159B-F773-D0A3FA916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1A4EBF-1000-BEAE-A268-6212A6DC5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076282-471D-432A-A8CF-A00D823B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8901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A71B7-905C-6C95-AE14-197F7D155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F10406-ED77-84E7-BFF1-780FEABCAB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5C8862-3E6B-C9C0-9519-A41F5169CA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9B4FC-717B-83F3-D0C5-260DBB881A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DDCDA4-87FC-84E5-971A-366B6E504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6907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7A6A3D-814D-C1C3-2F57-A3006F767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D8A192-D527-0F7F-06DC-95C6CBB4D9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83BF72-E70E-E960-5DDB-F55604CCD7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33AB75-2897-B2B0-96F6-3DC48852BC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5715B6-6D29-4862-FCB9-C8630F2F7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CBBD8F-A78B-225C-F891-B68915022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74675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64EE0-D841-CD61-5AE3-AAAF37C2B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5BD7C0-302C-446E-AE12-7D0397E51A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153D63-6841-2C9D-FE4D-B7C3606737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53A749-E927-11C8-90CC-C86768C7F0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1672CE-8150-4445-4E79-64562A6EE5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FC2794-0A1C-738E-B612-E2252AE49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E56D7B-56C4-2884-E2FE-2EF91FCC4D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DF45F8-4986-63B0-7A3D-E56EC3905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98536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6E420-9D9A-4D3E-C248-002D5DE35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39D367-26E7-92D5-1D38-8A1F707A4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9B0A7C-8838-F67B-F04A-FD8B1B6F8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09B64C-490C-4322-ECA4-687FD3E93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0399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EAF15DC-5D72-0122-8E96-7FCF60568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19D8A8-FE48-2104-A450-1EC739F62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488173-5F35-3609-7AB2-682D18664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44652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9D738-EE6E-1D47-18E5-0FB2FF643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9FAAC3-89AE-AE30-B39F-2039E372EB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D97C82-1AB3-3EA6-4FB6-B1C50DD6EE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793567-DC8F-8B35-2924-6B85687B4C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B8F24F-32AB-0BE0-956F-B20D158C8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176EC4-E5E9-116C-0F74-5C8CBB454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26993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E58BA-2F4C-B497-DCE0-D6A99DC11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C47EB8-F952-040C-C32B-C9587465F2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BA36B9-7D9B-FEED-1E89-550F7DD6F1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5E9A7-CDC7-197F-9B15-996DAA91B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AFCE1F-4E36-D83C-C597-088930E9F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96E574-0F45-29AA-6252-19BD4D924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1200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3CA1F-DB53-8930-20D1-F7DB2BE69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864237-BC3D-41BF-9DF3-3DD347B610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178C22-F5DF-ADE1-BCB1-31576DCBE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4BB80C-C71C-5EAE-1C2A-AE7F6FF51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51CEE7-E356-278B-6E68-004AA4D84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3833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92EB44-1172-06FD-98DA-F99E677A3A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97B170-5999-A9E7-5227-1C48C18054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EAB491-B09A-CFBE-A94F-9B9511207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F88A73-6CC6-60F3-684C-92D105963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26C5C-64CE-7F65-D788-FA1CA8A75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1027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2D71B1-86E8-F1C2-1ACE-A8CCAAFBA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CD3FC3-2AA4-630C-B105-8AC2FE1D2D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03C7AB-2538-5604-14DA-8EECBFBC17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103FFF-8F9B-6141-9094-6197B5FE636F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EA7711-F7A7-0290-22C6-5A3A22296D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D366B5-05E2-6BF3-9A84-25DCF7F078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717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928F8-686A-F14A-87E3-0B248CC8F4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Citation Service Diagrams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2EC59C-84C9-239F-28B8-BA57BCD2E4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99467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4A293-D885-429A-56FB-15A2C18F3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Citation Service Nodes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352A31E-A9FC-36DA-7E04-0779E1D6DCE7}"/>
              </a:ext>
            </a:extLst>
          </p:cNvPr>
          <p:cNvSpPr/>
          <p:nvPr/>
        </p:nvSpPr>
        <p:spPr>
          <a:xfrm>
            <a:off x="5689602" y="2641601"/>
            <a:ext cx="914400" cy="9144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East</a:t>
            </a:r>
          </a:p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(CEDA)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4A0D3A-54C3-B936-CFE9-08A63A06389A}"/>
              </a:ext>
            </a:extLst>
          </p:cNvPr>
          <p:cNvSpPr/>
          <p:nvPr/>
        </p:nvSpPr>
        <p:spPr>
          <a:xfrm>
            <a:off x="1439334" y="2641601"/>
            <a:ext cx="914400" cy="9144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West</a:t>
            </a:r>
          </a:p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(ORNL)</a:t>
            </a:r>
          </a:p>
        </p:txBody>
      </p:sp>
      <p:sp>
        <p:nvSpPr>
          <p:cNvPr id="6" name="Can 5">
            <a:extLst>
              <a:ext uri="{FF2B5EF4-FFF2-40B4-BE49-F238E27FC236}">
                <a16:creationId xmlns:a16="http://schemas.microsoft.com/office/drawing/2014/main" id="{9BE1C0BB-1210-5914-6263-1B7C4729DDC1}"/>
              </a:ext>
            </a:extLst>
          </p:cNvPr>
          <p:cNvSpPr/>
          <p:nvPr/>
        </p:nvSpPr>
        <p:spPr>
          <a:xfrm>
            <a:off x="5088468" y="4363156"/>
            <a:ext cx="2116667" cy="686456"/>
          </a:xfrm>
          <a:prstGeom prst="can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Primary Database</a:t>
            </a:r>
          </a:p>
        </p:txBody>
      </p:sp>
      <p:sp>
        <p:nvSpPr>
          <p:cNvPr id="7" name="Can 6">
            <a:extLst>
              <a:ext uri="{FF2B5EF4-FFF2-40B4-BE49-F238E27FC236}">
                <a16:creationId xmlns:a16="http://schemas.microsoft.com/office/drawing/2014/main" id="{99E3BBE0-1296-7765-DEBF-0DBB99AB633F}"/>
              </a:ext>
            </a:extLst>
          </p:cNvPr>
          <p:cNvSpPr/>
          <p:nvPr/>
        </p:nvSpPr>
        <p:spPr>
          <a:xfrm>
            <a:off x="838200" y="4366633"/>
            <a:ext cx="2116667" cy="769811"/>
          </a:xfrm>
          <a:prstGeom prst="can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Read-Replica Database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510C643-B67F-7805-49F8-A64772EE33B7}"/>
              </a:ext>
            </a:extLst>
          </p:cNvPr>
          <p:cNvCxnSpPr/>
          <p:nvPr/>
        </p:nvCxnSpPr>
        <p:spPr>
          <a:xfrm flipH="1">
            <a:off x="3059290" y="4696178"/>
            <a:ext cx="1930400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F966A1E-0D03-3D8A-A8DA-85874C7DD5D3}"/>
              </a:ext>
            </a:extLst>
          </p:cNvPr>
          <p:cNvSpPr txBox="1"/>
          <p:nvPr/>
        </p:nvSpPr>
        <p:spPr>
          <a:xfrm>
            <a:off x="3211690" y="4796694"/>
            <a:ext cx="16256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Updates to primary reflected in replica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2E159CE-235B-8A75-B90B-A0E6EBD6EACF}"/>
              </a:ext>
            </a:extLst>
          </p:cNvPr>
          <p:cNvCxnSpPr/>
          <p:nvPr/>
        </p:nvCxnSpPr>
        <p:spPr>
          <a:xfrm>
            <a:off x="6050847" y="3603979"/>
            <a:ext cx="0" cy="705556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FD7747-3DC5-6737-1888-A7E4DDDA7C93}"/>
              </a:ext>
            </a:extLst>
          </p:cNvPr>
          <p:cNvCxnSpPr>
            <a:cxnSpLocks/>
          </p:cNvCxnSpPr>
          <p:nvPr/>
        </p:nvCxnSpPr>
        <p:spPr>
          <a:xfrm flipV="1">
            <a:off x="6231468" y="3598336"/>
            <a:ext cx="5644" cy="711199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449D956-F69C-CC61-73A7-CC405841B9AA}"/>
              </a:ext>
            </a:extLst>
          </p:cNvPr>
          <p:cNvCxnSpPr/>
          <p:nvPr/>
        </p:nvCxnSpPr>
        <p:spPr>
          <a:xfrm flipV="1">
            <a:off x="1896533" y="3598336"/>
            <a:ext cx="0" cy="711199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4A6D4D8-0043-1B87-B94F-B5640A2CB096}"/>
              </a:ext>
            </a:extLst>
          </p:cNvPr>
          <p:cNvSpPr txBox="1"/>
          <p:nvPr/>
        </p:nvSpPr>
        <p:spPr>
          <a:xfrm>
            <a:off x="1919112" y="3807428"/>
            <a:ext cx="162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Read from replica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ECBCC8A-A1E6-EE69-60B9-99653F370410}"/>
              </a:ext>
            </a:extLst>
          </p:cNvPr>
          <p:cNvSpPr txBox="1"/>
          <p:nvPr/>
        </p:nvSpPr>
        <p:spPr>
          <a:xfrm>
            <a:off x="6392335" y="3692325"/>
            <a:ext cx="1625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Read/Write to primary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581F230-F5B9-7AEF-F868-226AC7353663}"/>
              </a:ext>
            </a:extLst>
          </p:cNvPr>
          <p:cNvCxnSpPr/>
          <p:nvPr/>
        </p:nvCxnSpPr>
        <p:spPr>
          <a:xfrm>
            <a:off x="2506135" y="3098801"/>
            <a:ext cx="3036711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E7E9D70-B2CB-D0A4-2653-D054881E6327}"/>
              </a:ext>
            </a:extLst>
          </p:cNvPr>
          <p:cNvSpPr txBox="1"/>
          <p:nvPr/>
        </p:nvSpPr>
        <p:spPr>
          <a:xfrm>
            <a:off x="2731912" y="2720644"/>
            <a:ext cx="27206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Write via Service API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3BCB8E7-94DF-C6E1-4222-BACAF3E89A4F}"/>
              </a:ext>
            </a:extLst>
          </p:cNvPr>
          <p:cNvSpPr txBox="1"/>
          <p:nvPr/>
        </p:nvSpPr>
        <p:spPr>
          <a:xfrm>
            <a:off x="7879646" y="1197679"/>
            <a:ext cx="3285067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Single node able to write, other node(s) write via primary node.</a:t>
            </a:r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Service deployment interchangeable (CEDA service configurable as replica OR primary on deployment)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If one node is shut down, other node(s) can be redeployed as primary, provided the primary database is still available – if not then spin up a new database using read-replica.</a:t>
            </a:r>
          </a:p>
        </p:txBody>
      </p:sp>
    </p:spTree>
    <p:extLst>
      <p:ext uri="{BB962C8B-B14F-4D97-AF65-F5344CB8AC3E}">
        <p14:creationId xmlns:p14="http://schemas.microsoft.com/office/powerpoint/2010/main" val="2485295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FF5CB-574D-F7DA-37E7-A150C61EC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Interactions - East (CEDA)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2BBB06-8B0F-702E-89D7-550DFAA22825}"/>
              </a:ext>
            </a:extLst>
          </p:cNvPr>
          <p:cNvSpPr/>
          <p:nvPr/>
        </p:nvSpPr>
        <p:spPr>
          <a:xfrm>
            <a:off x="3897488" y="2138802"/>
            <a:ext cx="4397024" cy="2102379"/>
          </a:xfrm>
          <a:prstGeom prst="rect">
            <a:avLst/>
          </a:prstGeom>
          <a:noFill/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Citation Service Deployment (k8s)</a:t>
            </a:r>
          </a:p>
          <a:p>
            <a:pPr algn="ctr"/>
            <a:endParaRPr lang="en-GB" dirty="0">
              <a:solidFill>
                <a:sysClr val="windowText" lastClr="000000"/>
              </a:solidFill>
            </a:endParaRPr>
          </a:p>
          <a:p>
            <a:pPr algn="ctr"/>
            <a:endParaRPr lang="en-GB" dirty="0">
              <a:solidFill>
                <a:sysClr val="windowText" lastClr="000000"/>
              </a:solidFill>
            </a:endParaRPr>
          </a:p>
          <a:p>
            <a:pPr algn="ctr"/>
            <a:endParaRPr lang="en-GB" dirty="0">
              <a:solidFill>
                <a:sysClr val="windowText" lastClr="000000"/>
              </a:solidFill>
            </a:endParaRPr>
          </a:p>
          <a:p>
            <a:pPr algn="ctr"/>
            <a:endParaRPr lang="en-GB" dirty="0">
              <a:solidFill>
                <a:sysClr val="windowText" lastClr="000000"/>
              </a:solidFill>
            </a:endParaRPr>
          </a:p>
          <a:p>
            <a:pPr algn="ctr"/>
            <a:endParaRPr lang="en-GB" dirty="0">
              <a:solidFill>
                <a:sysClr val="windowText" lastClr="000000"/>
              </a:solidFill>
            </a:endParaRPr>
          </a:p>
          <a:p>
            <a:pPr algn="ctr"/>
            <a:endParaRPr lang="en-GB" dirty="0">
              <a:solidFill>
                <a:sysClr val="windowText" lastClr="000000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D4FA21C-A05F-4577-4B68-F8B43B772381}"/>
              </a:ext>
            </a:extLst>
          </p:cNvPr>
          <p:cNvSpPr/>
          <p:nvPr/>
        </p:nvSpPr>
        <p:spPr>
          <a:xfrm>
            <a:off x="4165600" y="2698925"/>
            <a:ext cx="3860799" cy="394231"/>
          </a:xfrm>
          <a:prstGeom prst="round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Citation Service Container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A8FE9BA-68AF-EBF6-4922-DE2222AB8642}"/>
              </a:ext>
            </a:extLst>
          </p:cNvPr>
          <p:cNvSpPr/>
          <p:nvPr/>
        </p:nvSpPr>
        <p:spPr>
          <a:xfrm>
            <a:off x="4165599" y="3653279"/>
            <a:ext cx="3860799" cy="394231"/>
          </a:xfrm>
          <a:prstGeom prst="round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Event Stream Listener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C9BAD49-B8A3-A82E-2033-48C2495CBD71}"/>
              </a:ext>
            </a:extLst>
          </p:cNvPr>
          <p:cNvCxnSpPr>
            <a:cxnSpLocks/>
          </p:cNvCxnSpPr>
          <p:nvPr/>
        </p:nvCxnSpPr>
        <p:spPr>
          <a:xfrm flipV="1">
            <a:off x="6101642" y="3163934"/>
            <a:ext cx="0" cy="445688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85962A1-863D-B4E5-7892-0D361E3C86B5}"/>
              </a:ext>
            </a:extLst>
          </p:cNvPr>
          <p:cNvCxnSpPr>
            <a:cxnSpLocks/>
          </p:cNvCxnSpPr>
          <p:nvPr/>
        </p:nvCxnSpPr>
        <p:spPr>
          <a:xfrm flipV="1">
            <a:off x="6095998" y="4377490"/>
            <a:ext cx="0" cy="1684643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247A156-BDA1-749F-45C3-C359D1678DEB}"/>
              </a:ext>
            </a:extLst>
          </p:cNvPr>
          <p:cNvSpPr txBox="1"/>
          <p:nvPr/>
        </p:nvSpPr>
        <p:spPr>
          <a:xfrm>
            <a:off x="6237382" y="4607633"/>
            <a:ext cx="35780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ESGF Publisher (CEDA)</a:t>
            </a:r>
          </a:p>
          <a:p>
            <a:r>
              <a:rPr lang="en-GB" dirty="0"/>
              <a:t>- Sends messages to event stream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159104A-49C5-D336-39D4-B3FA392BAADC}"/>
              </a:ext>
            </a:extLst>
          </p:cNvPr>
          <p:cNvCxnSpPr>
            <a:cxnSpLocks/>
          </p:cNvCxnSpPr>
          <p:nvPr/>
        </p:nvCxnSpPr>
        <p:spPr>
          <a:xfrm flipH="1">
            <a:off x="8026397" y="1805734"/>
            <a:ext cx="745067" cy="827615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A8B1692-9539-9338-4FC7-D951E6565517}"/>
              </a:ext>
            </a:extLst>
          </p:cNvPr>
          <p:cNvSpPr txBox="1"/>
          <p:nvPr/>
        </p:nvSpPr>
        <p:spPr>
          <a:xfrm>
            <a:off x="8771464" y="1000324"/>
            <a:ext cx="153157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CVs Repo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EMD Repo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ORCID API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ROR API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A071364-104A-5A1F-460B-15A00DE8688B}"/>
              </a:ext>
            </a:extLst>
          </p:cNvPr>
          <p:cNvCxnSpPr>
            <a:cxnSpLocks/>
          </p:cNvCxnSpPr>
          <p:nvPr/>
        </p:nvCxnSpPr>
        <p:spPr>
          <a:xfrm>
            <a:off x="2942165" y="2138802"/>
            <a:ext cx="1117600" cy="494547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4C0F969-FFAB-6C0E-660E-9B832251BF77}"/>
              </a:ext>
            </a:extLst>
          </p:cNvPr>
          <p:cNvSpPr txBox="1"/>
          <p:nvPr/>
        </p:nvSpPr>
        <p:spPr>
          <a:xfrm>
            <a:off x="1888964" y="1467556"/>
            <a:ext cx="15315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API POSTs (West Node)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14C0388-BEA6-5D37-A14E-66C94640086D}"/>
              </a:ext>
            </a:extLst>
          </p:cNvPr>
          <p:cNvCxnSpPr>
            <a:cxnSpLocks/>
          </p:cNvCxnSpPr>
          <p:nvPr/>
        </p:nvCxnSpPr>
        <p:spPr>
          <a:xfrm>
            <a:off x="8179058" y="3066879"/>
            <a:ext cx="705298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7DA81A4-9F55-BFC3-0178-E878F1E68C62}"/>
              </a:ext>
            </a:extLst>
          </p:cNvPr>
          <p:cNvCxnSpPr>
            <a:cxnSpLocks/>
          </p:cNvCxnSpPr>
          <p:nvPr/>
        </p:nvCxnSpPr>
        <p:spPr>
          <a:xfrm flipV="1">
            <a:off x="8160455" y="1997161"/>
            <a:ext cx="611009" cy="696628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5C8D5C8-C263-C3F7-F23F-3662D078EB3E}"/>
              </a:ext>
            </a:extLst>
          </p:cNvPr>
          <p:cNvCxnSpPr>
            <a:cxnSpLocks/>
          </p:cNvCxnSpPr>
          <p:nvPr/>
        </p:nvCxnSpPr>
        <p:spPr>
          <a:xfrm flipH="1">
            <a:off x="8160455" y="2896040"/>
            <a:ext cx="723901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D443036-AAF1-D13F-06C6-69943E76B9E2}"/>
              </a:ext>
            </a:extLst>
          </p:cNvPr>
          <p:cNvSpPr txBox="1"/>
          <p:nvPr/>
        </p:nvSpPr>
        <p:spPr>
          <a:xfrm>
            <a:off x="9018412" y="2794602"/>
            <a:ext cx="17528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/>
              <a:t>DataCite</a:t>
            </a:r>
            <a:r>
              <a:rPr lang="en-GB" dirty="0"/>
              <a:t> (DOIs)</a:t>
            </a:r>
          </a:p>
        </p:txBody>
      </p:sp>
      <p:sp>
        <p:nvSpPr>
          <p:cNvPr id="42" name="Can 41">
            <a:extLst>
              <a:ext uri="{FF2B5EF4-FFF2-40B4-BE49-F238E27FC236}">
                <a16:creationId xmlns:a16="http://schemas.microsoft.com/office/drawing/2014/main" id="{C4FE4150-B29B-8AA0-A352-F93210749FDA}"/>
              </a:ext>
            </a:extLst>
          </p:cNvPr>
          <p:cNvSpPr/>
          <p:nvPr/>
        </p:nvSpPr>
        <p:spPr>
          <a:xfrm>
            <a:off x="1085141" y="2529862"/>
            <a:ext cx="2116667" cy="686456"/>
          </a:xfrm>
          <a:prstGeom prst="can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Primary Database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AA502AF-F592-3621-2C93-9C076A1AC721}"/>
              </a:ext>
            </a:extLst>
          </p:cNvPr>
          <p:cNvCxnSpPr>
            <a:cxnSpLocks/>
          </p:cNvCxnSpPr>
          <p:nvPr/>
        </p:nvCxnSpPr>
        <p:spPr>
          <a:xfrm>
            <a:off x="3354467" y="2979268"/>
            <a:ext cx="705298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810CECD1-61CA-2E45-3AF0-FF304273DCBE}"/>
              </a:ext>
            </a:extLst>
          </p:cNvPr>
          <p:cNvCxnSpPr>
            <a:cxnSpLocks/>
          </p:cNvCxnSpPr>
          <p:nvPr/>
        </p:nvCxnSpPr>
        <p:spPr>
          <a:xfrm flipH="1">
            <a:off x="3335864" y="2808429"/>
            <a:ext cx="723901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A8AE3B04-F9F3-6D47-9373-7FE5CDB4C97A}"/>
              </a:ext>
            </a:extLst>
          </p:cNvPr>
          <p:cNvSpPr txBox="1"/>
          <p:nvPr/>
        </p:nvSpPr>
        <p:spPr>
          <a:xfrm>
            <a:off x="613830" y="3318517"/>
            <a:ext cx="30592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Database hosted at CEDA or externally in the cloud?</a:t>
            </a:r>
          </a:p>
        </p:txBody>
      </p:sp>
    </p:spTree>
    <p:extLst>
      <p:ext uri="{BB962C8B-B14F-4D97-AF65-F5344CB8AC3E}">
        <p14:creationId xmlns:p14="http://schemas.microsoft.com/office/powerpoint/2010/main" val="35755684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162</Words>
  <Application>Microsoft Macintosh PowerPoint</Application>
  <PresentationFormat>Widescreen</PresentationFormat>
  <Paragraphs>35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Citation Service Diagrams</vt:lpstr>
      <vt:lpstr>Citation Service Nodes</vt:lpstr>
      <vt:lpstr>Interactions - East (CEDA)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Westwood, Daniel (STFC,RAL,RALSP)</dc:creator>
  <cp:lastModifiedBy>Westwood, Daniel (STFC,RAL,RALSP)</cp:lastModifiedBy>
  <cp:revision>3</cp:revision>
  <dcterms:created xsi:type="dcterms:W3CDTF">2026-02-19T08:40:40Z</dcterms:created>
  <dcterms:modified xsi:type="dcterms:W3CDTF">2026-02-19T09:36:14Z</dcterms:modified>
</cp:coreProperties>
</file>