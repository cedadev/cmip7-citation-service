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11"/>
    <p:restoredTop sz="94576"/>
  </p:normalViewPr>
  <p:slideViewPr>
    <p:cSldViewPr snapToGrid="0">
      <p:cViewPr varScale="1">
        <p:scale>
          <a:sx n="147" d="100"/>
          <a:sy n="147" d="100"/>
        </p:scale>
        <p:origin x="6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03A13-73CA-A35C-590F-565FA20BAD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6C0DE-9D4F-ED26-77F2-2564A9AE05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51AB4-4B66-7394-328F-A2B3798A1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90A54-45AC-6613-DE90-067B25778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C91FA-9D99-4D65-5873-100423989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254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B6003-B934-696C-D0C1-8920798BC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385A8-B275-A9AE-BA1B-E24F07F02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28727-CF66-159B-F773-D0A3FA916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A4EBF-1000-BEAE-A268-6212A6DC5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76282-471D-432A-A8CF-A00D823B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8901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A71B7-905C-6C95-AE14-197F7D155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10406-ED77-84E7-BFF1-780FEABCAB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C8862-3E6B-C9C0-9519-A41F5169C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9B4FC-717B-83F3-D0C5-260DBB881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DCDA4-87FC-84E5-971A-366B6E504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690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A6A3D-814D-C1C3-2F57-A3006F76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8A192-D527-0F7F-06DC-95C6CBB4D9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3BF72-E70E-E960-5DDB-F55604CCD7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33AB75-2897-B2B0-96F6-3DC48852B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5715B6-6D29-4862-FCB9-C8630F2F7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CBBD8F-A78B-225C-F891-B68915022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467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64EE0-D841-CD61-5AE3-AAAF37C2B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5BD7C0-302C-446E-AE12-7D0397E51A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53D63-6841-2C9D-FE4D-B7C360673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53A749-E927-11C8-90CC-C86768C7F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1672CE-8150-4445-4E79-64562A6EE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C2794-0A1C-738E-B612-E2252AE49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E56D7B-56C4-2884-E2FE-2EF91FCC4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DF45F8-4986-63B0-7A3D-E56EC3905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853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6E420-9D9A-4D3E-C248-002D5DE3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39D367-26E7-92D5-1D38-8A1F707A4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B0A7C-8838-F67B-F04A-FD8B1B6F8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09B64C-490C-4322-ECA4-687FD3E93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0399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AF15DC-5D72-0122-8E96-7FCF60568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9D8A8-FE48-2104-A450-1EC739F62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488173-5F35-3609-7AB2-682D18664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4465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9D738-EE6E-1D47-18E5-0FB2FF643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FAAC3-89AE-AE30-B39F-2039E372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D97C82-1AB3-3EA6-4FB6-B1C50DD6EE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93567-DC8F-8B35-2924-6B85687B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B8F24F-32AB-0BE0-956F-B20D158C8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176EC4-E5E9-116C-0F74-5C8CBB454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2699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E58BA-2F4C-B497-DCE0-D6A99DC1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C47EB8-F952-040C-C32B-C9587465F2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BA36B9-7D9B-FEED-1E89-550F7DD6F1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5E9A7-CDC7-197F-9B15-996DAA91B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AFCE1F-4E36-D83C-C597-088930E9F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96E574-0F45-29AA-6252-19BD4D924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120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3CA1F-DB53-8930-20D1-F7DB2BE69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864237-BC3D-41BF-9DF3-3DD347B610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78C22-F5DF-ADE1-BCB1-31576DCBE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BB80C-C71C-5EAE-1C2A-AE7F6FF51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51CEE7-E356-278B-6E68-004AA4D84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3833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92EB44-1172-06FD-98DA-F99E677A3A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97B170-5999-A9E7-5227-1C48C18054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EAB491-B09A-CFBE-A94F-9B951120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88A73-6CC6-60F3-684C-92D10596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C5C-64CE-7F65-D788-FA1CA8A75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1027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2D71B1-86E8-F1C2-1ACE-A8CCAAFBA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CD3FC3-2AA4-630C-B105-8AC2FE1D2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03C7AB-2538-5604-14DA-8EECBFBC17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103FFF-8F9B-6141-9094-6197B5FE636F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A7711-F7A7-0290-22C6-5A3A22296D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366B5-05E2-6BF3-9A84-25DCF7F078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025CA4-1F5D-1A41-BBD2-48D64ACDF5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28F8-686A-F14A-87E3-0B248CC8F4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Citation Service Diagrams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2EC59C-84C9-239F-28B8-BA57BCD2E4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9946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4A293-D885-429A-56FB-15A2C18F3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782" y="130527"/>
            <a:ext cx="5741122" cy="1325563"/>
          </a:xfrm>
        </p:spPr>
        <p:txBody>
          <a:bodyPr/>
          <a:lstStyle/>
          <a:p>
            <a:r>
              <a:rPr lang="en-GB" dirty="0"/>
              <a:t>Citation Service Nodes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52A31E-A9FC-36DA-7E04-0779E1D6DCE7}"/>
              </a:ext>
            </a:extLst>
          </p:cNvPr>
          <p:cNvSpPr/>
          <p:nvPr/>
        </p:nvSpPr>
        <p:spPr>
          <a:xfrm>
            <a:off x="5689601" y="2028724"/>
            <a:ext cx="914400" cy="9144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East</a:t>
            </a:r>
          </a:p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(CEDA)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4A0D3A-54C3-B936-CFE9-08A63A06389A}"/>
              </a:ext>
            </a:extLst>
          </p:cNvPr>
          <p:cNvSpPr/>
          <p:nvPr/>
        </p:nvSpPr>
        <p:spPr>
          <a:xfrm>
            <a:off x="1439333" y="1690689"/>
            <a:ext cx="914400" cy="9144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West</a:t>
            </a:r>
          </a:p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(ORNL)</a:t>
            </a:r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BE1C0BB-1210-5914-6263-1B7C4729DDC1}"/>
              </a:ext>
            </a:extLst>
          </p:cNvPr>
          <p:cNvSpPr/>
          <p:nvPr/>
        </p:nvSpPr>
        <p:spPr>
          <a:xfrm>
            <a:off x="5088468" y="4363156"/>
            <a:ext cx="2116667" cy="686456"/>
          </a:xfrm>
          <a:prstGeom prst="can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East Node DB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581F230-F5B9-7AEF-F868-226AC7353663}"/>
              </a:ext>
            </a:extLst>
          </p:cNvPr>
          <p:cNvCxnSpPr>
            <a:cxnSpLocks/>
          </p:cNvCxnSpPr>
          <p:nvPr/>
        </p:nvCxnSpPr>
        <p:spPr>
          <a:xfrm>
            <a:off x="2472267" y="2147889"/>
            <a:ext cx="1259419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E7E9D70-B2CB-D0A4-2653-D054881E6327}"/>
              </a:ext>
            </a:extLst>
          </p:cNvPr>
          <p:cNvSpPr txBox="1"/>
          <p:nvPr/>
        </p:nvSpPr>
        <p:spPr>
          <a:xfrm>
            <a:off x="2575971" y="1381233"/>
            <a:ext cx="30367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Writes messages to Citation Internal Transition Topic (CITT)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6F9C71-3748-A460-DBF4-F0532FBB5164}"/>
              </a:ext>
            </a:extLst>
          </p:cNvPr>
          <p:cNvSpPr/>
          <p:nvPr/>
        </p:nvSpPr>
        <p:spPr>
          <a:xfrm>
            <a:off x="4108446" y="3805165"/>
            <a:ext cx="1005426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>
                <a:solidFill>
                  <a:sysClr val="windowText" lastClr="000000"/>
                </a:solidFill>
              </a:rPr>
              <a:t>Event Listener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C265799-BB27-F5BB-748A-25F87B2B208E}"/>
              </a:ext>
            </a:extLst>
          </p:cNvPr>
          <p:cNvCxnSpPr>
            <a:cxnSpLocks/>
          </p:cNvCxnSpPr>
          <p:nvPr/>
        </p:nvCxnSpPr>
        <p:spPr>
          <a:xfrm flipH="1">
            <a:off x="4278490" y="2145245"/>
            <a:ext cx="1253066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9BE49BC-C1F5-86AB-FB04-696AC96997A8}"/>
              </a:ext>
            </a:extLst>
          </p:cNvPr>
          <p:cNvSpPr txBox="1"/>
          <p:nvPr/>
        </p:nvSpPr>
        <p:spPr>
          <a:xfrm>
            <a:off x="3731686" y="2687183"/>
            <a:ext cx="16256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Stream B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537DA7-408A-DB4F-2325-88CF01DB96B8}"/>
              </a:ext>
            </a:extLst>
          </p:cNvPr>
          <p:cNvCxnSpPr>
            <a:cxnSpLocks/>
          </p:cNvCxnSpPr>
          <p:nvPr/>
        </p:nvCxnSpPr>
        <p:spPr>
          <a:xfrm flipV="1">
            <a:off x="6141154" y="3056515"/>
            <a:ext cx="0" cy="124712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355D97-3304-B31A-E607-DA2FF4C350A0}"/>
              </a:ext>
            </a:extLst>
          </p:cNvPr>
          <p:cNvSpPr txBox="1"/>
          <p:nvPr/>
        </p:nvSpPr>
        <p:spPr>
          <a:xfrm>
            <a:off x="6141154" y="3356455"/>
            <a:ext cx="162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Read from </a:t>
            </a:r>
            <a:r>
              <a:rPr lang="en-GB" sz="1400" dirty="0" err="1"/>
              <a:t>db</a:t>
            </a:r>
            <a:endParaRPr lang="en-GB" sz="1400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C6C3E5-1ADB-E87F-AE7A-17961B3771DF}"/>
              </a:ext>
            </a:extLst>
          </p:cNvPr>
          <p:cNvCxnSpPr>
            <a:cxnSpLocks/>
          </p:cNvCxnSpPr>
          <p:nvPr/>
        </p:nvCxnSpPr>
        <p:spPr>
          <a:xfrm>
            <a:off x="3995553" y="1923170"/>
            <a:ext cx="0" cy="188199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5A79A4B-3477-C407-547B-92DE4BC9372C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5113872" y="3989831"/>
            <a:ext cx="495994" cy="37332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2B8EDE0-ADB0-BF28-E1C9-2E526ACDB7AE}"/>
              </a:ext>
            </a:extLst>
          </p:cNvPr>
          <p:cNvCxnSpPr>
            <a:cxnSpLocks/>
          </p:cNvCxnSpPr>
          <p:nvPr/>
        </p:nvCxnSpPr>
        <p:spPr>
          <a:xfrm flipH="1">
            <a:off x="6217920" y="498755"/>
            <a:ext cx="1548834" cy="1456563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E9EFF90-A849-8FB5-A1EC-6AE73916BFDD}"/>
              </a:ext>
            </a:extLst>
          </p:cNvPr>
          <p:cNvSpPr txBox="1"/>
          <p:nvPr/>
        </p:nvSpPr>
        <p:spPr>
          <a:xfrm>
            <a:off x="7879646" y="305457"/>
            <a:ext cx="2768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API queries from Stream 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27CE90-D37F-6FA5-659C-8DE95ED363B9}"/>
              </a:ext>
            </a:extLst>
          </p:cNvPr>
          <p:cNvSpPr txBox="1"/>
          <p:nvPr/>
        </p:nvSpPr>
        <p:spPr>
          <a:xfrm>
            <a:off x="7690561" y="1670818"/>
            <a:ext cx="4130312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Standardise the messages to the event stream.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Specific topic for citation service updates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CREATE (serialised model)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UPDATE (serialised model)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DELETE (model ID)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Read directly from the database (Pseudo-read-only)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/>
              <a:t>Await response from Kafka listener before proceeding.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67775E8-E886-324B-9A07-A3EA812E91F2}"/>
              </a:ext>
            </a:extLst>
          </p:cNvPr>
          <p:cNvCxnSpPr>
            <a:cxnSpLocks/>
          </p:cNvCxnSpPr>
          <p:nvPr/>
        </p:nvCxnSpPr>
        <p:spPr>
          <a:xfrm flipH="1">
            <a:off x="2472267" y="2335124"/>
            <a:ext cx="1259419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8A8B0FA-24DA-4853-9EF6-F4C014346ECB}"/>
              </a:ext>
            </a:extLst>
          </p:cNvPr>
          <p:cNvSpPr/>
          <p:nvPr/>
        </p:nvSpPr>
        <p:spPr>
          <a:xfrm>
            <a:off x="4057486" y="1923170"/>
            <a:ext cx="3598322" cy="3553597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79B833-03ED-15EA-DBD6-E469DEA9A19F}"/>
              </a:ext>
            </a:extLst>
          </p:cNvPr>
          <p:cNvSpPr txBox="1"/>
          <p:nvPr/>
        </p:nvSpPr>
        <p:spPr>
          <a:xfrm>
            <a:off x="4057486" y="5157972"/>
            <a:ext cx="22201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Node-specific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2485295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FF5CB-574D-F7DA-37E7-A150C61EC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Interactions - East (CEDA)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2BBB06-8B0F-702E-89D7-550DFAA22825}"/>
              </a:ext>
            </a:extLst>
          </p:cNvPr>
          <p:cNvSpPr/>
          <p:nvPr/>
        </p:nvSpPr>
        <p:spPr>
          <a:xfrm>
            <a:off x="3897488" y="1819717"/>
            <a:ext cx="4397024" cy="3164051"/>
          </a:xfrm>
          <a:prstGeom prst="rect">
            <a:avLst/>
          </a:prstGeom>
          <a:noFill/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Citation Service Deployment (k8s)</a:t>
            </a: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  <a:p>
            <a:pPr algn="ctr"/>
            <a:endParaRPr lang="en-GB" dirty="0">
              <a:solidFill>
                <a:sysClr val="windowText" lastClr="000000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D4FA21C-A05F-4577-4B68-F8B43B772381}"/>
              </a:ext>
            </a:extLst>
          </p:cNvPr>
          <p:cNvSpPr/>
          <p:nvPr/>
        </p:nvSpPr>
        <p:spPr>
          <a:xfrm>
            <a:off x="4170893" y="3389289"/>
            <a:ext cx="3860799" cy="394231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Citation SVC Frontend App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8FE9BA-68AF-EBF6-4922-DE2222AB8642}"/>
              </a:ext>
            </a:extLst>
          </p:cNvPr>
          <p:cNvSpPr/>
          <p:nvPr/>
        </p:nvSpPr>
        <p:spPr>
          <a:xfrm>
            <a:off x="4170892" y="4343643"/>
            <a:ext cx="3860799" cy="394231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Publication Listener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C9BAD49-B8A3-A82E-2033-48C2495CBD71}"/>
              </a:ext>
            </a:extLst>
          </p:cNvPr>
          <p:cNvCxnSpPr>
            <a:cxnSpLocks/>
          </p:cNvCxnSpPr>
          <p:nvPr/>
        </p:nvCxnSpPr>
        <p:spPr>
          <a:xfrm flipV="1">
            <a:off x="6106935" y="3854298"/>
            <a:ext cx="0" cy="44568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85962A1-863D-B4E5-7892-0D361E3C86B5}"/>
              </a:ext>
            </a:extLst>
          </p:cNvPr>
          <p:cNvCxnSpPr>
            <a:cxnSpLocks/>
          </p:cNvCxnSpPr>
          <p:nvPr/>
        </p:nvCxnSpPr>
        <p:spPr>
          <a:xfrm flipV="1">
            <a:off x="6095998" y="5038283"/>
            <a:ext cx="0" cy="102385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247A156-BDA1-749F-45C3-C359D1678DEB}"/>
              </a:ext>
            </a:extLst>
          </p:cNvPr>
          <p:cNvSpPr txBox="1"/>
          <p:nvPr/>
        </p:nvSpPr>
        <p:spPr>
          <a:xfrm>
            <a:off x="6237381" y="5179531"/>
            <a:ext cx="52918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Publication Listener</a:t>
            </a:r>
          </a:p>
          <a:p>
            <a:r>
              <a:rPr lang="en-GB" dirty="0"/>
              <a:t>– Listens to Success Topic for Published STAC Items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159104A-49C5-D336-39D4-B3FA392BAADC}"/>
              </a:ext>
            </a:extLst>
          </p:cNvPr>
          <p:cNvCxnSpPr>
            <a:cxnSpLocks/>
          </p:cNvCxnSpPr>
          <p:nvPr/>
        </p:nvCxnSpPr>
        <p:spPr>
          <a:xfrm flipH="1">
            <a:off x="8031690" y="2496098"/>
            <a:ext cx="745067" cy="82761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A8B1692-9539-9338-4FC7-D951E6565517}"/>
              </a:ext>
            </a:extLst>
          </p:cNvPr>
          <p:cNvSpPr txBox="1"/>
          <p:nvPr/>
        </p:nvSpPr>
        <p:spPr>
          <a:xfrm>
            <a:off x="8776757" y="1690688"/>
            <a:ext cx="15315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CVs Repo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EMD Repo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ORCID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ROR API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14C0388-BEA6-5D37-A14E-66C94640086D}"/>
              </a:ext>
            </a:extLst>
          </p:cNvPr>
          <p:cNvCxnSpPr>
            <a:cxnSpLocks/>
          </p:cNvCxnSpPr>
          <p:nvPr/>
        </p:nvCxnSpPr>
        <p:spPr>
          <a:xfrm>
            <a:off x="8184351" y="3757243"/>
            <a:ext cx="70529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7DA81A4-9F55-BFC3-0178-E878F1E68C62}"/>
              </a:ext>
            </a:extLst>
          </p:cNvPr>
          <p:cNvCxnSpPr>
            <a:cxnSpLocks/>
          </p:cNvCxnSpPr>
          <p:nvPr/>
        </p:nvCxnSpPr>
        <p:spPr>
          <a:xfrm flipV="1">
            <a:off x="8165748" y="2687525"/>
            <a:ext cx="611009" cy="69662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5C8D5C8-C263-C3F7-F23F-3662D078EB3E}"/>
              </a:ext>
            </a:extLst>
          </p:cNvPr>
          <p:cNvCxnSpPr>
            <a:cxnSpLocks/>
          </p:cNvCxnSpPr>
          <p:nvPr/>
        </p:nvCxnSpPr>
        <p:spPr>
          <a:xfrm flipH="1">
            <a:off x="8165748" y="3586404"/>
            <a:ext cx="723901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D443036-AAF1-D13F-06C6-69943E76B9E2}"/>
              </a:ext>
            </a:extLst>
          </p:cNvPr>
          <p:cNvSpPr txBox="1"/>
          <p:nvPr/>
        </p:nvSpPr>
        <p:spPr>
          <a:xfrm>
            <a:off x="9023705" y="3484966"/>
            <a:ext cx="1752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DataCite</a:t>
            </a:r>
            <a:r>
              <a:rPr lang="en-GB" dirty="0"/>
              <a:t> (DOIs)</a:t>
            </a:r>
          </a:p>
        </p:txBody>
      </p:sp>
      <p:sp>
        <p:nvSpPr>
          <p:cNvPr id="42" name="Can 41">
            <a:extLst>
              <a:ext uri="{FF2B5EF4-FFF2-40B4-BE49-F238E27FC236}">
                <a16:creationId xmlns:a16="http://schemas.microsoft.com/office/drawing/2014/main" id="{C4FE4150-B29B-8AA0-A352-F93210749FDA}"/>
              </a:ext>
            </a:extLst>
          </p:cNvPr>
          <p:cNvSpPr/>
          <p:nvPr/>
        </p:nvSpPr>
        <p:spPr>
          <a:xfrm>
            <a:off x="1190624" y="2288203"/>
            <a:ext cx="2116667" cy="686456"/>
          </a:xfrm>
          <a:prstGeom prst="can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Primary Database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AA502AF-F592-3621-2C93-9C076A1AC721}"/>
              </a:ext>
            </a:extLst>
          </p:cNvPr>
          <p:cNvCxnSpPr>
            <a:cxnSpLocks/>
          </p:cNvCxnSpPr>
          <p:nvPr/>
        </p:nvCxnSpPr>
        <p:spPr>
          <a:xfrm>
            <a:off x="3384745" y="2555374"/>
            <a:ext cx="70529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A8AE3B04-F9F3-6D47-9373-7FE5CDB4C97A}"/>
              </a:ext>
            </a:extLst>
          </p:cNvPr>
          <p:cNvSpPr txBox="1"/>
          <p:nvPr/>
        </p:nvSpPr>
        <p:spPr>
          <a:xfrm>
            <a:off x="613830" y="3318517"/>
            <a:ext cx="305928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Database hosted at CEDA for East Node (other nodes can have any other implementation.)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Create/Update confirmation is </a:t>
            </a:r>
            <a:r>
              <a:rPr lang="en-GB" sz="1400" b="1" dirty="0"/>
              <a:t>NOT </a:t>
            </a:r>
            <a:r>
              <a:rPr lang="en-GB" sz="1400" dirty="0"/>
              <a:t>awaited – redirects occur immediately.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7CFDC12-E59E-31AF-B120-6A11A0F656CF}"/>
              </a:ext>
            </a:extLst>
          </p:cNvPr>
          <p:cNvSpPr/>
          <p:nvPr/>
        </p:nvSpPr>
        <p:spPr>
          <a:xfrm>
            <a:off x="4176535" y="2436233"/>
            <a:ext cx="3860799" cy="394231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Citation Backend Listener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E3BC3A-1330-A779-ABF4-07C27F0650C6}"/>
              </a:ext>
            </a:extLst>
          </p:cNvPr>
          <p:cNvCxnSpPr>
            <a:cxnSpLocks/>
          </p:cNvCxnSpPr>
          <p:nvPr/>
        </p:nvCxnSpPr>
        <p:spPr>
          <a:xfrm flipV="1">
            <a:off x="6095998" y="2873090"/>
            <a:ext cx="0" cy="434223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35F932-A21F-CFE7-E4CE-C531B242583F}"/>
              </a:ext>
            </a:extLst>
          </p:cNvPr>
          <p:cNvCxnSpPr>
            <a:cxnSpLocks/>
          </p:cNvCxnSpPr>
          <p:nvPr/>
        </p:nvCxnSpPr>
        <p:spPr>
          <a:xfrm flipH="1">
            <a:off x="3384745" y="2694488"/>
            <a:ext cx="654360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5568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</TotalTime>
  <Words>160</Words>
  <Application>Microsoft Macintosh PowerPoint</Application>
  <PresentationFormat>Widescreen</PresentationFormat>
  <Paragraphs>44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Citation Service Diagrams</vt:lpstr>
      <vt:lpstr>Citation Service Nodes</vt:lpstr>
      <vt:lpstr>Interactions - East (CEDA)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Westwood, Daniel (STFC,RAL,RALSP)</dc:creator>
  <cp:lastModifiedBy>Westwood, Daniel (STFC,RAL,RALSP)</cp:lastModifiedBy>
  <cp:revision>8</cp:revision>
  <dcterms:created xsi:type="dcterms:W3CDTF">2026-02-19T08:40:40Z</dcterms:created>
  <dcterms:modified xsi:type="dcterms:W3CDTF">2026-04-17T13:36:20Z</dcterms:modified>
</cp:coreProperties>
</file>